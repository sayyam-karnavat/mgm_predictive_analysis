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9" r:id="rId6"/>
    <p:sldId id="279" r:id="rId7"/>
    <p:sldId id="268" r:id="rId8"/>
    <p:sldId id="281" r:id="rId9"/>
    <p:sldId id="284" r:id="rId10"/>
    <p:sldId id="285" r:id="rId11"/>
    <p:sldId id="286" r:id="rId12"/>
    <p:sldId id="274" r:id="rId13"/>
    <p:sldId id="275" r:id="rId14"/>
    <p:sldId id="276" r:id="rId15"/>
    <p:sldId id="277" r:id="rId16"/>
    <p:sldId id="270" r:id="rId17"/>
    <p:sldId id="271" r:id="rId18"/>
    <p:sldId id="272" r:id="rId19"/>
    <p:sldId id="273" r:id="rId20"/>
    <p:sldId id="2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3F97CD-18C7-D540-C789-62C42BEC454C}" v="479" dt="2025-10-24T10:38:50.492"/>
    <p1510:client id="{A4913A1B-A2C4-4C0E-CB12-4C907F7B7910}" v="1182" dt="2025-10-23T04:20:03.488"/>
    <p1510:client id="{C9D82C0F-27AC-EB1D-9F59-E5BCE9F50F6D}" v="267" dt="2025-10-23T16:46:51.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6456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5108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8315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0902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78443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47740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72990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4076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8084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25230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0892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12/24/2025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1272047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jpe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1079994" y="3217960"/>
            <a:ext cx="9244649" cy="1091306"/>
          </a:xfrm>
        </p:spPr>
        <p:txBody>
          <a:bodyPr anchor="t">
            <a:normAutofit/>
          </a:bodyPr>
          <a:lstStyle/>
          <a:p>
            <a:pPr algn="l"/>
            <a:r>
              <a:rPr lang="en-US" sz="3600" dirty="0">
                <a:solidFill>
                  <a:srgbClr val="FFFFFF"/>
                </a:solidFill>
              </a:rPr>
              <a:t>Predictive Maintenance &amp; Analytics Brochure</a:t>
            </a:r>
            <a:endParaRPr lang="en-US" sz="3200" dirty="0">
              <a:solidFill>
                <a:srgbClr val="FFFFFF"/>
              </a:solidFill>
            </a:endParaRPr>
          </a:p>
        </p:txBody>
      </p:sp>
      <p:sp>
        <p:nvSpPr>
          <p:cNvPr id="3" name="Subtitle 2"/>
          <p:cNvSpPr>
            <a:spLocks noGrp="1"/>
          </p:cNvSpPr>
          <p:nvPr>
            <p:ph type="subTitle" idx="1"/>
          </p:nvPr>
        </p:nvSpPr>
        <p:spPr>
          <a:xfrm>
            <a:off x="1079274" y="4211126"/>
            <a:ext cx="8578699" cy="504825"/>
          </a:xfrm>
        </p:spPr>
        <p:txBody>
          <a:bodyPr vert="horz" lIns="91440" tIns="45720" rIns="91440" bIns="45720" rtlCol="0" anchor="t">
            <a:normAutofit/>
          </a:bodyPr>
          <a:lstStyle/>
          <a:p>
            <a:pPr algn="l"/>
            <a:r>
              <a:rPr lang="en-US" sz="2000" dirty="0">
                <a:solidFill>
                  <a:srgbClr val="FFFFFF"/>
                </a:solidFill>
              </a:rPr>
              <a:t>Oct'2025</a:t>
            </a:r>
          </a:p>
        </p:txBody>
      </p:sp>
      <p:sp>
        <p:nvSpPr>
          <p:cNvPr id="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1" name="Straight Connector 1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pic>
        <p:nvPicPr>
          <p:cNvPr id="13" name="Picture 12" descr="A blue and orange neon sign&#10;&#10;AI-generated content may be incorrect.">
            <a:extLst>
              <a:ext uri="{FF2B5EF4-FFF2-40B4-BE49-F238E27FC236}">
                <a16:creationId xmlns:a16="http://schemas.microsoft.com/office/drawing/2014/main" id="{377ED65E-ADB0-13BC-EB28-BBB45BFD8ED3}"/>
              </a:ext>
            </a:extLst>
          </p:cNvPr>
          <p:cNvPicPr>
            <a:picLocks noChangeAspect="1"/>
          </p:cNvPicPr>
          <p:nvPr/>
        </p:nvPicPr>
        <p:blipFill>
          <a:blip r:embed="rId2"/>
          <a:stretch>
            <a:fillRect/>
          </a:stretch>
        </p:blipFill>
        <p:spPr>
          <a:xfrm>
            <a:off x="10655649" y="115818"/>
            <a:ext cx="1409700" cy="466725"/>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F48D6-5F3B-14F8-200E-1B0CD76FF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7858D-B013-B0EB-DA1E-E793CD0DA825}"/>
              </a:ext>
            </a:extLst>
          </p:cNvPr>
          <p:cNvSpPr>
            <a:spLocks noGrp="1"/>
          </p:cNvSpPr>
          <p:nvPr>
            <p:ph type="title"/>
          </p:nvPr>
        </p:nvSpPr>
        <p:spPr>
          <a:xfrm>
            <a:off x="794657" y="310696"/>
            <a:ext cx="10515600" cy="469755"/>
          </a:xfrm>
        </p:spPr>
        <p:txBody>
          <a:bodyPr>
            <a:normAutofit fontScale="90000"/>
          </a:bodyPr>
          <a:lstStyle/>
          <a:p>
            <a:r>
              <a:rPr lang="en-US" sz="3200" dirty="0"/>
              <a:t>Executive Summary</a:t>
            </a:r>
            <a:endParaRPr lang="en-US" dirty="0"/>
          </a:p>
        </p:txBody>
      </p:sp>
      <p:sp>
        <p:nvSpPr>
          <p:cNvPr id="4" name="TextBox 3">
            <a:extLst>
              <a:ext uri="{FF2B5EF4-FFF2-40B4-BE49-F238E27FC236}">
                <a16:creationId xmlns:a16="http://schemas.microsoft.com/office/drawing/2014/main" id="{9991E744-BED2-75B6-E799-99E6F8CCAD12}"/>
              </a:ext>
            </a:extLst>
          </p:cNvPr>
          <p:cNvSpPr txBox="1"/>
          <p:nvPr/>
        </p:nvSpPr>
        <p:spPr>
          <a:xfrm>
            <a:off x="849058" y="1153038"/>
            <a:ext cx="10610044"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3A3A3A"/>
                </a:solidFill>
                <a:latin typeface="Calibri"/>
                <a:ea typeface="Calibri"/>
                <a:cs typeface="Calibri"/>
              </a:rPr>
              <a:t>Overview </a:t>
            </a:r>
            <a:r>
              <a:rPr lang="en-US" sz="1600" b="1" dirty="0">
                <a:solidFill>
                  <a:srgbClr val="3A3A3A"/>
                </a:solidFill>
                <a:latin typeface="Calibri"/>
                <a:ea typeface="Calibri"/>
                <a:cs typeface="Calibri"/>
              </a:rPr>
              <a:t>: </a:t>
            </a:r>
            <a:r>
              <a:rPr lang="en-US" sz="1600" dirty="0">
                <a:solidFill>
                  <a:srgbClr val="3A3A3A"/>
                </a:solidFill>
                <a:ea typeface="+mn-lt"/>
                <a:cs typeface="+mn-lt"/>
              </a:rPr>
              <a:t>The mining industry is increasingly data-rich with Crusher and grinding operations generate millions of sensor data points daily with KPIs like vibration, oil pressure, and temperature variations that hold early signs of mechanical stress and efficiency loss. Our predictive AI solution, transforms this data into actionable foresight, helping plant teams transition from reactive firefighting to predictive intelligence.</a:t>
            </a:r>
            <a:endParaRPr lang="en-US" dirty="0">
              <a:ea typeface="+mn-lt"/>
              <a:cs typeface="+mn-lt"/>
            </a:endParaRPr>
          </a:p>
          <a:p>
            <a:endParaRPr lang="en-US" sz="1600" b="1" dirty="0">
              <a:solidFill>
                <a:srgbClr val="3A3A3A"/>
              </a:solidFill>
              <a:latin typeface="Calibri"/>
              <a:ea typeface="Calibri"/>
              <a:cs typeface="Calibri"/>
            </a:endParaRPr>
          </a:p>
          <a:p>
            <a:endParaRPr lang="en-US" sz="1600" b="1" dirty="0">
              <a:solidFill>
                <a:srgbClr val="3A3A3A"/>
              </a:solidFill>
              <a:latin typeface="Calibri"/>
              <a:ea typeface="Calibri"/>
              <a:cs typeface="Calibri"/>
            </a:endParaRPr>
          </a:p>
          <a:p>
            <a:r>
              <a:rPr lang="en-US" b="1" dirty="0">
                <a:solidFill>
                  <a:srgbClr val="3A3A3A"/>
                </a:solidFill>
                <a:latin typeface="Calibri"/>
                <a:ea typeface="Calibri"/>
                <a:cs typeface="Calibri"/>
              </a:rPr>
              <a:t>Key Highlights :</a:t>
            </a:r>
            <a:endParaRPr lang="en-US" dirty="0">
              <a:solidFill>
                <a:srgbClr val="3A3A3A"/>
              </a:solidFill>
              <a:latin typeface="Calibri"/>
              <a:ea typeface="Calibri"/>
              <a:cs typeface="Calibri"/>
            </a:endParaRPr>
          </a:p>
          <a:p>
            <a:pPr marL="285750" indent="-285750">
              <a:buFont typeface="Wingdings"/>
              <a:buChar char="ü"/>
            </a:pPr>
            <a:r>
              <a:rPr lang="en-US" sz="1600" b="1" dirty="0">
                <a:solidFill>
                  <a:srgbClr val="3A3A3A"/>
                </a:solidFill>
                <a:ea typeface="+mn-lt"/>
                <a:cs typeface="+mn-lt"/>
              </a:rPr>
              <a:t>Unified Predictive Layer:</a:t>
            </a:r>
            <a:r>
              <a:rPr lang="en-US" sz="1600" dirty="0">
                <a:solidFill>
                  <a:srgbClr val="3A3A3A"/>
                </a:solidFill>
                <a:ea typeface="+mn-lt"/>
                <a:cs typeface="+mn-lt"/>
              </a:rPr>
              <a:t> Continuously learning “normal” equipment behavior across sensors and identifies deviations long before failures occur.</a:t>
            </a:r>
            <a:endParaRPr lang="en-US" dirty="0">
              <a:solidFill>
                <a:srgbClr val="000000"/>
              </a:solidFill>
              <a:ea typeface="+mn-lt"/>
              <a:cs typeface="+mn-lt"/>
            </a:endParaRPr>
          </a:p>
          <a:p>
            <a:pPr marL="285750" indent="-285750">
              <a:buFont typeface="Wingdings"/>
              <a:buChar char="ü"/>
            </a:pPr>
            <a:r>
              <a:rPr lang="en-US" sz="1600" b="1" dirty="0">
                <a:solidFill>
                  <a:srgbClr val="3A3A3A"/>
                </a:solidFill>
                <a:ea typeface="+mn-lt"/>
                <a:cs typeface="+mn-lt"/>
              </a:rPr>
              <a:t>AI Core:</a:t>
            </a:r>
            <a:r>
              <a:rPr lang="en-US" sz="1600" dirty="0">
                <a:solidFill>
                  <a:srgbClr val="3A3A3A"/>
                </a:solidFill>
                <a:ea typeface="+mn-lt"/>
                <a:cs typeface="+mn-lt"/>
              </a:rPr>
              <a:t> Combines ML/AI algorithms for known anomaly patterns and capture unknown novel, unseen behaviors.</a:t>
            </a:r>
            <a:endParaRPr lang="en-US" dirty="0">
              <a:ea typeface="+mn-lt"/>
              <a:cs typeface="+mn-lt"/>
            </a:endParaRPr>
          </a:p>
          <a:p>
            <a:pPr marL="285750" indent="-285750">
              <a:buFont typeface="Wingdings"/>
              <a:buChar char="ü"/>
            </a:pPr>
            <a:r>
              <a:rPr lang="en-US" sz="1600" b="1" dirty="0">
                <a:solidFill>
                  <a:srgbClr val="3A3A3A"/>
                </a:solidFill>
                <a:ea typeface="+mn-lt"/>
                <a:cs typeface="+mn-lt"/>
              </a:rPr>
              <a:t>Deployment Flexibility:</a:t>
            </a:r>
            <a:r>
              <a:rPr lang="en-US" sz="1600" dirty="0">
                <a:solidFill>
                  <a:srgbClr val="3A3A3A"/>
                </a:solidFill>
                <a:ea typeface="+mn-lt"/>
                <a:cs typeface="+mn-lt"/>
              </a:rPr>
              <a:t> Offered as a SaaS Platform with stringent data security and Governance framework.</a:t>
            </a:r>
            <a:endParaRPr lang="en-US" dirty="0">
              <a:ea typeface="+mn-lt"/>
              <a:cs typeface="+mn-lt"/>
            </a:endParaRPr>
          </a:p>
          <a:p>
            <a:pPr marL="285750" indent="-285750">
              <a:buFont typeface="Wingdings"/>
              <a:buChar char="ü"/>
            </a:pPr>
            <a:endParaRPr lang="en-US" b="1" dirty="0">
              <a:solidFill>
                <a:srgbClr val="3A3A3A"/>
              </a:solidFill>
              <a:latin typeface="Calibri"/>
              <a:ea typeface="Calibri"/>
              <a:cs typeface="Calibri"/>
            </a:endParaRPr>
          </a:p>
          <a:p>
            <a:pPr marL="285750" indent="-285750">
              <a:buFont typeface="Wingdings"/>
              <a:buChar char="ü"/>
            </a:pPr>
            <a:endParaRPr lang="en-US" b="1" dirty="0">
              <a:solidFill>
                <a:srgbClr val="3A3A3A"/>
              </a:solidFill>
              <a:latin typeface="Calibri"/>
              <a:ea typeface="Calibri"/>
              <a:cs typeface="Calibri"/>
            </a:endParaRPr>
          </a:p>
          <a:p>
            <a:r>
              <a:rPr lang="en-US" b="1" dirty="0">
                <a:solidFill>
                  <a:srgbClr val="3A3A3A"/>
                </a:solidFill>
                <a:latin typeface="Calibri"/>
                <a:ea typeface="Calibri"/>
                <a:cs typeface="Calibri"/>
              </a:rPr>
              <a:t>Business Value :</a:t>
            </a:r>
            <a:endParaRPr lang="en-US" dirty="0">
              <a:solidFill>
                <a:srgbClr val="3A3A3A"/>
              </a:solidFill>
              <a:latin typeface="Calibri"/>
              <a:ea typeface="Calibri"/>
              <a:cs typeface="Calibri"/>
            </a:endParaRPr>
          </a:p>
          <a:p>
            <a:r>
              <a:rPr lang="en-US" sz="1600" dirty="0">
                <a:solidFill>
                  <a:srgbClr val="3A3A3A"/>
                </a:solidFill>
                <a:ea typeface="+mn-lt"/>
                <a:cs typeface="+mn-lt"/>
              </a:rPr>
              <a:t>Delivers measurable results by converting complex sensor readings into interpretable health indicators, empowering maintenance teams to act early. With every cycle, its learning tightens, ensuring continuous improvement and sustainable operational excellence. Downtime reduction, optimized maintenance cost, safer environment, and improved throughput consistency.</a:t>
            </a:r>
            <a:endParaRPr lang="en-US" sz="1600" dirty="0">
              <a:solidFill>
                <a:srgbClr val="000000"/>
              </a:solidFill>
              <a:ea typeface="+mn-lt"/>
              <a:cs typeface="+mn-lt"/>
            </a:endParaRPr>
          </a:p>
          <a:p>
            <a:endParaRPr lang="en-US" sz="1600" dirty="0">
              <a:solidFill>
                <a:srgbClr val="000000"/>
              </a:solidFill>
              <a:latin typeface="Calibri"/>
              <a:ea typeface="Calibri"/>
              <a:cs typeface="Calibri"/>
            </a:endParaRPr>
          </a:p>
          <a:p>
            <a:endParaRPr lang="en-US" sz="1600" dirty="0">
              <a:solidFill>
                <a:srgbClr val="3A3A3A"/>
              </a:solidFill>
              <a:ea typeface="+mn-lt"/>
              <a:cs typeface="+mn-lt"/>
            </a:endParaRPr>
          </a:p>
        </p:txBody>
      </p:sp>
    </p:spTree>
    <p:extLst>
      <p:ext uri="{BB962C8B-B14F-4D97-AF65-F5344CB8AC3E}">
        <p14:creationId xmlns:p14="http://schemas.microsoft.com/office/powerpoint/2010/main" val="301887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B74A-3C4D-8E0E-0401-41DCDB241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633F9-E2DB-D1E6-528D-1A3EC6172837}"/>
              </a:ext>
            </a:extLst>
          </p:cNvPr>
          <p:cNvSpPr>
            <a:spLocks noGrp="1"/>
          </p:cNvSpPr>
          <p:nvPr>
            <p:ph type="title"/>
          </p:nvPr>
        </p:nvSpPr>
        <p:spPr>
          <a:xfrm>
            <a:off x="794657" y="310696"/>
            <a:ext cx="10515600" cy="469755"/>
          </a:xfrm>
        </p:spPr>
        <p:txBody>
          <a:bodyPr>
            <a:normAutofit fontScale="90000"/>
          </a:bodyPr>
          <a:lstStyle/>
          <a:p>
            <a:r>
              <a:rPr lang="en-US" sz="3200" dirty="0">
                <a:ea typeface="+mj-lt"/>
                <a:cs typeface="+mj-lt"/>
              </a:rPr>
              <a:t>Data &amp; SCADA Integration</a:t>
            </a:r>
            <a:endParaRPr lang="en-US" dirty="0"/>
          </a:p>
        </p:txBody>
      </p:sp>
      <p:sp>
        <p:nvSpPr>
          <p:cNvPr id="4" name="TextBox 3">
            <a:extLst>
              <a:ext uri="{FF2B5EF4-FFF2-40B4-BE49-F238E27FC236}">
                <a16:creationId xmlns:a16="http://schemas.microsoft.com/office/drawing/2014/main" id="{D476910F-0C3C-E464-8611-C643F8432698}"/>
              </a:ext>
            </a:extLst>
          </p:cNvPr>
          <p:cNvSpPr txBox="1"/>
          <p:nvPr/>
        </p:nvSpPr>
        <p:spPr>
          <a:xfrm>
            <a:off x="873838" y="1159983"/>
            <a:ext cx="10878353"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3A3A3A"/>
                </a:solidFill>
                <a:ea typeface="+mn-lt"/>
                <a:cs typeface="+mn-lt"/>
              </a:rPr>
              <a:t>Foundation for Intelligence:</a:t>
            </a:r>
            <a:endParaRPr lang="en-US" b="1" dirty="0">
              <a:ea typeface="+mn-lt"/>
              <a:cs typeface="+mn-lt"/>
            </a:endParaRPr>
          </a:p>
          <a:p>
            <a:r>
              <a:rPr lang="en-US" sz="1600" dirty="0">
                <a:solidFill>
                  <a:srgbClr val="3A3A3A"/>
                </a:solidFill>
                <a:ea typeface="+mn-lt"/>
                <a:cs typeface="+mn-lt"/>
              </a:rPr>
              <a:t>Solution strength begins with data, sourced from sensors, SCADA systems, and plant historians. These feeds capture dynamic operational states, making them ideal for real-time model learning.</a:t>
            </a:r>
            <a:endParaRPr lang="en-US" sz="1600" dirty="0">
              <a:ea typeface="+mn-lt"/>
              <a:cs typeface="+mn-lt"/>
            </a:endParaRPr>
          </a:p>
          <a:p>
            <a:endParaRPr lang="en-US" b="1" dirty="0">
              <a:solidFill>
                <a:srgbClr val="3A3A3A"/>
              </a:solidFill>
              <a:latin typeface="Calibri"/>
              <a:ea typeface="Calibri"/>
              <a:cs typeface="Calibri"/>
            </a:endParaRPr>
          </a:p>
          <a:p>
            <a:r>
              <a:rPr lang="en-US" b="1" dirty="0">
                <a:solidFill>
                  <a:srgbClr val="3A3A3A"/>
                </a:solidFill>
                <a:latin typeface="Calibri"/>
                <a:ea typeface="Calibri"/>
                <a:cs typeface="Calibri"/>
              </a:rPr>
              <a:t>Data Sources :</a:t>
            </a:r>
            <a:endParaRPr lang="en-US" dirty="0">
              <a:solidFill>
                <a:srgbClr val="3A3A3A"/>
              </a:solidFill>
              <a:latin typeface="Calibri"/>
              <a:ea typeface="Calibri"/>
              <a:cs typeface="Calibri"/>
            </a:endParaRPr>
          </a:p>
          <a:p>
            <a:pPr marL="285750" indent="-285750">
              <a:buFont typeface="Arial"/>
              <a:buChar char="•"/>
            </a:pPr>
            <a:r>
              <a:rPr lang="en-US" sz="1600" dirty="0">
                <a:solidFill>
                  <a:srgbClr val="3A3A3A"/>
                </a:solidFill>
                <a:ea typeface="+mn-lt"/>
                <a:cs typeface="+mn-lt"/>
              </a:rPr>
              <a:t>Historian logs, maintenance tickets, and production parameters.</a:t>
            </a:r>
            <a:endParaRPr lang="en-US" dirty="0">
              <a:ea typeface="+mn-lt"/>
              <a:cs typeface="+mn-lt"/>
            </a:endParaRPr>
          </a:p>
          <a:p>
            <a:pPr marL="285750" indent="-285750">
              <a:buFont typeface="Arial"/>
              <a:buChar char="•"/>
            </a:pPr>
            <a:r>
              <a:rPr lang="en-US" sz="1600" dirty="0">
                <a:solidFill>
                  <a:srgbClr val="3A3A3A"/>
                </a:solidFill>
                <a:ea typeface="+mn-lt"/>
                <a:cs typeface="+mn-lt"/>
              </a:rPr>
              <a:t>KPIs like Vibration, temperature, power draw, pressure, throughput, and bearing wear. </a:t>
            </a:r>
            <a:endParaRPr lang="en-US" sz="1600" dirty="0">
              <a:solidFill>
                <a:srgbClr val="000000"/>
              </a:solidFill>
              <a:ea typeface="+mn-lt"/>
              <a:cs typeface="+mn-lt"/>
            </a:endParaRPr>
          </a:p>
          <a:p>
            <a:pPr marL="285750" indent="-285750">
              <a:buFont typeface="Arial"/>
              <a:buChar char="•"/>
            </a:pPr>
            <a:endParaRPr lang="en-US" sz="1600" dirty="0">
              <a:solidFill>
                <a:srgbClr val="3A3A3A"/>
              </a:solidFill>
              <a:ea typeface="+mn-lt"/>
              <a:cs typeface="+mn-lt"/>
            </a:endParaRPr>
          </a:p>
          <a:p>
            <a:r>
              <a:rPr lang="en-US" b="1" dirty="0">
                <a:solidFill>
                  <a:srgbClr val="3A3A3A"/>
                </a:solidFill>
                <a:ea typeface="+mn-lt"/>
                <a:cs typeface="+mn-lt"/>
              </a:rPr>
              <a:t>Integration Steps:</a:t>
            </a:r>
            <a:endParaRPr lang="en-US" b="1" dirty="0">
              <a:ea typeface="+mn-lt"/>
              <a:cs typeface="+mn-lt"/>
            </a:endParaRPr>
          </a:p>
          <a:p>
            <a:pPr marL="285750" indent="-285750">
              <a:buFont typeface="Arial"/>
              <a:buChar char="•"/>
            </a:pPr>
            <a:r>
              <a:rPr lang="en-US" sz="1600" b="1" dirty="0">
                <a:solidFill>
                  <a:srgbClr val="3A3A3A"/>
                </a:solidFill>
                <a:ea typeface="+mn-lt"/>
                <a:cs typeface="+mn-lt"/>
              </a:rPr>
              <a:t>Ingestion:</a:t>
            </a:r>
            <a:r>
              <a:rPr lang="en-US" sz="1600" dirty="0">
                <a:solidFill>
                  <a:srgbClr val="3A3A3A"/>
                </a:solidFill>
                <a:ea typeface="+mn-lt"/>
                <a:cs typeface="+mn-lt"/>
              </a:rPr>
              <a:t> Sensor/ SCADA → Quality Validation → Standardization.</a:t>
            </a:r>
            <a:endParaRPr lang="en-US" sz="1600" dirty="0">
              <a:solidFill>
                <a:srgbClr val="000000"/>
              </a:solidFill>
              <a:ea typeface="+mn-lt"/>
              <a:cs typeface="+mn-lt"/>
            </a:endParaRPr>
          </a:p>
          <a:p>
            <a:pPr marL="285750" indent="-285750">
              <a:buFont typeface="Arial"/>
              <a:buChar char="•"/>
            </a:pPr>
            <a:r>
              <a:rPr lang="en-US" sz="1600" b="1" dirty="0">
                <a:solidFill>
                  <a:srgbClr val="3A3A3A"/>
                </a:solidFill>
                <a:ea typeface="+mn-lt"/>
                <a:cs typeface="+mn-lt"/>
              </a:rPr>
              <a:t>Preprocessing:</a:t>
            </a:r>
            <a:r>
              <a:rPr lang="en-US" sz="1600" dirty="0">
                <a:solidFill>
                  <a:srgbClr val="3A3A3A"/>
                </a:solidFill>
                <a:ea typeface="+mn-lt"/>
                <a:cs typeface="+mn-lt"/>
              </a:rPr>
              <a:t> Missing value imputation, smoothing, scaling, and windowing.</a:t>
            </a:r>
            <a:endParaRPr lang="en-US" dirty="0"/>
          </a:p>
          <a:p>
            <a:pPr marL="285750" indent="-285750">
              <a:buFont typeface="Arial"/>
              <a:buChar char="•"/>
            </a:pPr>
            <a:r>
              <a:rPr lang="en-US" sz="1600" b="1" dirty="0">
                <a:solidFill>
                  <a:srgbClr val="3A3A3A"/>
                </a:solidFill>
                <a:ea typeface="+mn-lt"/>
                <a:cs typeface="+mn-lt"/>
              </a:rPr>
              <a:t>Data Storage:</a:t>
            </a:r>
            <a:r>
              <a:rPr lang="en-US" sz="1600" dirty="0">
                <a:solidFill>
                  <a:srgbClr val="3A3A3A"/>
                </a:solidFill>
                <a:ea typeface="+mn-lt"/>
                <a:cs typeface="+mn-lt"/>
              </a:rPr>
              <a:t> Centralized or edge-based storage aligned with data governance policies.</a:t>
            </a:r>
            <a:endParaRPr lang="en-US" dirty="0"/>
          </a:p>
          <a:p>
            <a:endParaRPr lang="en-US" sz="1600" dirty="0">
              <a:solidFill>
                <a:srgbClr val="3A3A3A"/>
              </a:solidFill>
              <a:latin typeface="Aptos"/>
              <a:ea typeface="Calibri"/>
              <a:cs typeface="Calibri"/>
            </a:endParaRPr>
          </a:p>
          <a:p>
            <a:endParaRPr lang="en-US" sz="1600" b="1" dirty="0">
              <a:solidFill>
                <a:srgbClr val="3A3A3A"/>
              </a:solidFill>
              <a:latin typeface="Calibri"/>
              <a:ea typeface="Calibri"/>
              <a:cs typeface="Calibri"/>
            </a:endParaRPr>
          </a:p>
          <a:p>
            <a:r>
              <a:rPr lang="en-US" b="1" dirty="0">
                <a:solidFill>
                  <a:srgbClr val="3A3A3A"/>
                </a:solidFill>
                <a:latin typeface="Calibri"/>
                <a:ea typeface="Calibri"/>
                <a:cs typeface="Calibri"/>
              </a:rPr>
              <a:t>Outcome :</a:t>
            </a:r>
            <a:endParaRPr lang="en-US" dirty="0">
              <a:solidFill>
                <a:srgbClr val="3A3A3A"/>
              </a:solidFill>
              <a:latin typeface="Calibri"/>
              <a:ea typeface="Calibri"/>
              <a:cs typeface="Calibri"/>
            </a:endParaRPr>
          </a:p>
          <a:p>
            <a:r>
              <a:rPr lang="en-US" sz="1600" dirty="0">
                <a:solidFill>
                  <a:srgbClr val="3A3A3A"/>
                </a:solidFill>
                <a:ea typeface="+mn-lt"/>
                <a:cs typeface="+mn-lt"/>
              </a:rPr>
              <a:t>Reliable, harmonized data flows that feed both anomaly detection models and visualization layers , setting the stage for scalable, repeatable AI across mining sites.</a:t>
            </a:r>
            <a:endParaRPr lang="en-US" dirty="0">
              <a:ea typeface="+mn-lt"/>
              <a:cs typeface="+mn-lt"/>
            </a:endParaRPr>
          </a:p>
        </p:txBody>
      </p:sp>
    </p:spTree>
    <p:extLst>
      <p:ext uri="{BB962C8B-B14F-4D97-AF65-F5344CB8AC3E}">
        <p14:creationId xmlns:p14="http://schemas.microsoft.com/office/powerpoint/2010/main" val="2154133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5215-7CEA-1058-79E9-FDF071D2F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0C68A-ECDA-C668-1F02-D4F9F657A197}"/>
              </a:ext>
            </a:extLst>
          </p:cNvPr>
          <p:cNvSpPr>
            <a:spLocks noGrp="1"/>
          </p:cNvSpPr>
          <p:nvPr>
            <p:ph type="title"/>
          </p:nvPr>
        </p:nvSpPr>
        <p:spPr>
          <a:xfrm>
            <a:off x="794657" y="310696"/>
            <a:ext cx="10515600" cy="559402"/>
          </a:xfrm>
        </p:spPr>
        <p:txBody>
          <a:bodyPr>
            <a:normAutofit/>
          </a:bodyPr>
          <a:lstStyle/>
          <a:p>
            <a:r>
              <a:rPr lang="en-US" sz="2800" dirty="0"/>
              <a:t>Proposed Solution Flow</a:t>
            </a:r>
          </a:p>
        </p:txBody>
      </p:sp>
      <p:pic>
        <p:nvPicPr>
          <p:cNvPr id="4" name="Picture 3" descr="A blue and orange neon sign&#10;&#10;AI-generated content may be incorrect.">
            <a:extLst>
              <a:ext uri="{FF2B5EF4-FFF2-40B4-BE49-F238E27FC236}">
                <a16:creationId xmlns:a16="http://schemas.microsoft.com/office/drawing/2014/main" id="{BC0BE006-CC87-08A3-78E1-D5E34ACEB1E3}"/>
              </a:ext>
            </a:extLst>
          </p:cNvPr>
          <p:cNvPicPr>
            <a:picLocks noChangeAspect="1"/>
          </p:cNvPicPr>
          <p:nvPr/>
        </p:nvPicPr>
        <p:blipFill>
          <a:blip r:embed="rId2"/>
          <a:stretch>
            <a:fillRect/>
          </a:stretch>
        </p:blipFill>
        <p:spPr>
          <a:xfrm>
            <a:off x="10921093" y="6298066"/>
            <a:ext cx="1104900" cy="368754"/>
          </a:xfrm>
          <a:prstGeom prst="rect">
            <a:avLst/>
          </a:prstGeom>
        </p:spPr>
      </p:pic>
      <p:sp>
        <p:nvSpPr>
          <p:cNvPr id="3" name="Rectangle: Rounded Corners 2">
            <a:extLst>
              <a:ext uri="{FF2B5EF4-FFF2-40B4-BE49-F238E27FC236}">
                <a16:creationId xmlns:a16="http://schemas.microsoft.com/office/drawing/2014/main" id="{016076D3-2568-41E8-3007-EA1A4CDA0648}"/>
              </a:ext>
            </a:extLst>
          </p:cNvPr>
          <p:cNvSpPr/>
          <p:nvPr/>
        </p:nvSpPr>
        <p:spPr>
          <a:xfrm>
            <a:off x="6708964" y="3885202"/>
            <a:ext cx="1744728" cy="697111"/>
          </a:xfrm>
          <a:prstGeom prst="roundRect">
            <a:avLst/>
          </a:prstGeom>
          <a:solidFill>
            <a:schemeClr val="bg1"/>
          </a:solid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marL="285750" indent="-285750">
              <a:buFont typeface="Arial"/>
              <a:buChar char="•"/>
            </a:pPr>
            <a:r>
              <a:rPr lang="en-US" sz="1200" dirty="0">
                <a:solidFill>
                  <a:schemeClr val="bg2">
                    <a:lumMod val="25000"/>
                  </a:schemeClr>
                </a:solidFill>
              </a:rPr>
              <a:t>CI/CD</a:t>
            </a:r>
          </a:p>
          <a:p>
            <a:pPr marL="285750" indent="-285750">
              <a:buFont typeface="Arial"/>
              <a:buChar char="•"/>
            </a:pPr>
            <a:r>
              <a:rPr lang="en-US" sz="1200" dirty="0">
                <a:solidFill>
                  <a:schemeClr val="bg2">
                    <a:lumMod val="25000"/>
                  </a:schemeClr>
                </a:solidFill>
              </a:rPr>
              <a:t>Model Drift</a:t>
            </a:r>
          </a:p>
          <a:p>
            <a:pPr marL="285750" indent="-285750">
              <a:buFont typeface="Arial"/>
              <a:buChar char="•"/>
            </a:pPr>
            <a:r>
              <a:rPr lang="en-US" sz="1200" dirty="0">
                <a:solidFill>
                  <a:schemeClr val="bg2">
                    <a:lumMod val="25000"/>
                  </a:schemeClr>
                </a:solidFill>
              </a:rPr>
              <a:t>Model Monitoring</a:t>
            </a:r>
          </a:p>
        </p:txBody>
      </p:sp>
      <p:sp>
        <p:nvSpPr>
          <p:cNvPr id="6" name="Rectangle: Rounded Corners 5">
            <a:extLst>
              <a:ext uri="{FF2B5EF4-FFF2-40B4-BE49-F238E27FC236}">
                <a16:creationId xmlns:a16="http://schemas.microsoft.com/office/drawing/2014/main" id="{800D640A-C5E9-7409-9772-70C1EB465CA3}"/>
              </a:ext>
            </a:extLst>
          </p:cNvPr>
          <p:cNvSpPr/>
          <p:nvPr/>
        </p:nvSpPr>
        <p:spPr>
          <a:xfrm>
            <a:off x="3594833" y="4531335"/>
            <a:ext cx="2225675" cy="1213700"/>
          </a:xfrm>
          <a:prstGeom prst="roundRect">
            <a:avLst/>
          </a:prstGeom>
          <a:solidFill>
            <a:schemeClr val="bg1"/>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dirty="0">
                <a:solidFill>
                  <a:srgbClr val="747474"/>
                </a:solidFill>
              </a:rPr>
              <a:t>Data Prep/ </a:t>
            </a:r>
            <a:endParaRPr lang="en-US" sz="1400" dirty="0">
              <a:solidFill>
                <a:srgbClr val="747474"/>
              </a:solidFill>
            </a:endParaRPr>
          </a:p>
          <a:p>
            <a:r>
              <a:rPr lang="en-US" sz="1400" b="1" dirty="0">
                <a:solidFill>
                  <a:srgbClr val="747474"/>
                </a:solidFill>
              </a:rPr>
              <a:t> Feature Engineering</a:t>
            </a:r>
            <a:endParaRPr lang="en-US" sz="1400">
              <a:solidFill>
                <a:srgbClr val="747474"/>
              </a:solidFill>
            </a:endParaRPr>
          </a:p>
          <a:p>
            <a:pPr marL="285750" indent="-285750">
              <a:buFont typeface="Arial"/>
              <a:buChar char="•"/>
            </a:pPr>
            <a:r>
              <a:rPr lang="en-US" sz="1200" dirty="0">
                <a:solidFill>
                  <a:srgbClr val="747474"/>
                </a:solidFill>
              </a:rPr>
              <a:t>Cleaning</a:t>
            </a:r>
          </a:p>
          <a:p>
            <a:pPr marL="285750" indent="-285750">
              <a:buFont typeface="Arial"/>
              <a:buChar char="•"/>
            </a:pPr>
            <a:r>
              <a:rPr lang="en-US" sz="1200" dirty="0">
                <a:solidFill>
                  <a:srgbClr val="747474"/>
                </a:solidFill>
              </a:rPr>
              <a:t>Imputing</a:t>
            </a:r>
          </a:p>
          <a:p>
            <a:pPr marL="285750" indent="-285750">
              <a:buFont typeface="Arial"/>
              <a:buChar char="•"/>
            </a:pPr>
            <a:r>
              <a:rPr lang="en-US" sz="1200" dirty="0">
                <a:solidFill>
                  <a:srgbClr val="747474"/>
                </a:solidFill>
              </a:rPr>
              <a:t>Scaling</a:t>
            </a:r>
          </a:p>
        </p:txBody>
      </p:sp>
      <p:cxnSp>
        <p:nvCxnSpPr>
          <p:cNvPr id="11" name="Straight Arrow Connector 10">
            <a:extLst>
              <a:ext uri="{FF2B5EF4-FFF2-40B4-BE49-F238E27FC236}">
                <a16:creationId xmlns:a16="http://schemas.microsoft.com/office/drawing/2014/main" id="{1835584D-658F-906A-581C-764770090A55}"/>
              </a:ext>
            </a:extLst>
          </p:cNvPr>
          <p:cNvCxnSpPr>
            <a:cxnSpLocks/>
          </p:cNvCxnSpPr>
          <p:nvPr/>
        </p:nvCxnSpPr>
        <p:spPr>
          <a:xfrm flipV="1">
            <a:off x="5222774" y="3312949"/>
            <a:ext cx="7233" cy="12038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B913BD9-A1B8-CEEF-50ED-07BFD0468CCB}"/>
              </a:ext>
            </a:extLst>
          </p:cNvPr>
          <p:cNvSpPr txBox="1"/>
          <p:nvPr/>
        </p:nvSpPr>
        <p:spPr>
          <a:xfrm>
            <a:off x="3749006" y="1313418"/>
            <a:ext cx="2620119" cy="1138773"/>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747474"/>
                </a:solidFill>
              </a:rPr>
              <a:t>Multi-Model Development</a:t>
            </a:r>
            <a:endParaRPr lang="en-US" sz="1200" b="1" dirty="0">
              <a:solidFill>
                <a:srgbClr val="747474"/>
              </a:solidFill>
            </a:endParaRPr>
          </a:p>
          <a:p>
            <a:r>
              <a:rPr lang="en-US" sz="1600" b="1" dirty="0">
                <a:solidFill>
                  <a:srgbClr val="747474"/>
                </a:solidFill>
              </a:rPr>
              <a:t>for Failure Prediction</a:t>
            </a:r>
          </a:p>
          <a:p>
            <a:pPr marL="285750" indent="-285750">
              <a:buFont typeface="Arial"/>
              <a:buChar char="•"/>
            </a:pPr>
            <a:r>
              <a:rPr lang="en-US" sz="1200" dirty="0">
                <a:solidFill>
                  <a:srgbClr val="747474"/>
                </a:solidFill>
              </a:rPr>
              <a:t>Unsupervised Learning</a:t>
            </a:r>
          </a:p>
          <a:p>
            <a:pPr marL="285750" indent="-285750">
              <a:buFont typeface="Arial"/>
              <a:buChar char="•"/>
            </a:pPr>
            <a:r>
              <a:rPr lang="en-US" sz="1200" dirty="0">
                <a:solidFill>
                  <a:srgbClr val="747474"/>
                </a:solidFill>
              </a:rPr>
              <a:t>Semi-supervised Learning</a:t>
            </a:r>
          </a:p>
          <a:p>
            <a:pPr marL="285750" indent="-285750">
              <a:buFont typeface="Arial"/>
              <a:buChar char="•"/>
            </a:pPr>
            <a:r>
              <a:rPr lang="en-US" sz="1200" dirty="0">
                <a:solidFill>
                  <a:srgbClr val="747474"/>
                </a:solidFill>
              </a:rPr>
              <a:t>Time Series Based</a:t>
            </a:r>
          </a:p>
        </p:txBody>
      </p:sp>
      <p:sp>
        <p:nvSpPr>
          <p:cNvPr id="17" name="TextBox 16">
            <a:extLst>
              <a:ext uri="{FF2B5EF4-FFF2-40B4-BE49-F238E27FC236}">
                <a16:creationId xmlns:a16="http://schemas.microsoft.com/office/drawing/2014/main" id="{55BD69A8-DEB9-0CDD-7E6B-894576074BE2}"/>
              </a:ext>
            </a:extLst>
          </p:cNvPr>
          <p:cNvSpPr txBox="1"/>
          <p:nvPr/>
        </p:nvSpPr>
        <p:spPr>
          <a:xfrm>
            <a:off x="6711778" y="1500238"/>
            <a:ext cx="1721598" cy="677108"/>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747474"/>
                </a:solidFill>
              </a:rPr>
              <a:t>Model Serving</a:t>
            </a:r>
          </a:p>
          <a:p>
            <a:pPr marL="171450" indent="-171450">
              <a:buFont typeface="Arial"/>
              <a:buChar char="•"/>
            </a:pPr>
            <a:r>
              <a:rPr lang="en-US" sz="1200" dirty="0">
                <a:solidFill>
                  <a:srgbClr val="747474"/>
                </a:solidFill>
              </a:rPr>
              <a:t>Batch Jobs</a:t>
            </a:r>
          </a:p>
          <a:p>
            <a:pPr marL="171450" indent="-171450">
              <a:buFont typeface="Arial"/>
              <a:buChar char="•"/>
            </a:pPr>
            <a:r>
              <a:rPr lang="en-US" sz="1200" dirty="0">
                <a:solidFill>
                  <a:srgbClr val="747474"/>
                </a:solidFill>
              </a:rPr>
              <a:t>Rest APIs</a:t>
            </a:r>
          </a:p>
        </p:txBody>
      </p:sp>
      <p:cxnSp>
        <p:nvCxnSpPr>
          <p:cNvPr id="20" name="Straight Arrow Connector 19">
            <a:extLst>
              <a:ext uri="{FF2B5EF4-FFF2-40B4-BE49-F238E27FC236}">
                <a16:creationId xmlns:a16="http://schemas.microsoft.com/office/drawing/2014/main" id="{AD3F6E07-CD61-B586-20B6-55EF25E5A74F}"/>
              </a:ext>
            </a:extLst>
          </p:cNvPr>
          <p:cNvCxnSpPr>
            <a:cxnSpLocks/>
          </p:cNvCxnSpPr>
          <p:nvPr/>
        </p:nvCxnSpPr>
        <p:spPr>
          <a:xfrm flipV="1">
            <a:off x="5643863" y="2853982"/>
            <a:ext cx="1216675" cy="179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FA79C77B-D62F-3892-775C-D07749E4941C}"/>
              </a:ext>
            </a:extLst>
          </p:cNvPr>
          <p:cNvSpPr txBox="1"/>
          <p:nvPr/>
        </p:nvSpPr>
        <p:spPr>
          <a:xfrm>
            <a:off x="1203859" y="2591178"/>
            <a:ext cx="1981201" cy="646331"/>
          </a:xfrm>
          <a:prstGeom prst="rect">
            <a:avLst/>
          </a:prstGeom>
          <a:noFill/>
          <a:ln>
            <a:solidFill>
              <a:schemeClr val="accent6">
                <a:lumMod val="60000"/>
                <a:lumOff val="40000"/>
              </a:schemeClr>
            </a:solidFill>
            <a:prstDash val="solid"/>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dirty="0">
                <a:solidFill>
                  <a:srgbClr val="747474"/>
                </a:solidFill>
                <a:latin typeface="Aptos"/>
              </a:rPr>
              <a:t>Sensors</a:t>
            </a:r>
            <a:endParaRPr lang="en-US" sz="1200" dirty="0">
              <a:solidFill>
                <a:srgbClr val="747474"/>
              </a:solidFill>
              <a:latin typeface="Aptos"/>
              <a:ea typeface="Cambria"/>
            </a:endParaRPr>
          </a:p>
          <a:p>
            <a:pPr marL="171450" indent="-171450">
              <a:buFont typeface="Arial"/>
              <a:buChar char="•"/>
            </a:pPr>
            <a:r>
              <a:rPr lang="en-US" sz="1200" dirty="0">
                <a:solidFill>
                  <a:srgbClr val="747474"/>
                </a:solidFill>
                <a:latin typeface="Aptos"/>
                <a:ea typeface="Cambria"/>
              </a:rPr>
              <a:t>SCADA</a:t>
            </a:r>
          </a:p>
          <a:p>
            <a:pPr marL="171450" indent="-171450">
              <a:buFont typeface="Arial"/>
              <a:buChar char="•"/>
            </a:pPr>
            <a:r>
              <a:rPr lang="en-US" sz="1200" dirty="0">
                <a:solidFill>
                  <a:srgbClr val="747474"/>
                </a:solidFill>
                <a:latin typeface="Aptos"/>
                <a:ea typeface="Cambria"/>
              </a:rPr>
              <a:t>Master</a:t>
            </a:r>
            <a:r>
              <a:rPr lang="en-US" sz="1200" dirty="0">
                <a:solidFill>
                  <a:srgbClr val="747474"/>
                </a:solidFill>
                <a:latin typeface="Aptos"/>
              </a:rPr>
              <a:t> Data</a:t>
            </a:r>
            <a:endParaRPr lang="en-US" sz="1200" dirty="0">
              <a:solidFill>
                <a:srgbClr val="747474"/>
              </a:solidFill>
              <a:latin typeface="Aptos"/>
              <a:ea typeface="Cambria"/>
            </a:endParaRPr>
          </a:p>
        </p:txBody>
      </p:sp>
      <p:sp>
        <p:nvSpPr>
          <p:cNvPr id="23" name="TextBox 22">
            <a:extLst>
              <a:ext uri="{FF2B5EF4-FFF2-40B4-BE49-F238E27FC236}">
                <a16:creationId xmlns:a16="http://schemas.microsoft.com/office/drawing/2014/main" id="{9FF57901-BACA-BB60-E773-3A4D6A9B8F73}"/>
              </a:ext>
            </a:extLst>
          </p:cNvPr>
          <p:cNvSpPr txBox="1"/>
          <p:nvPr/>
        </p:nvSpPr>
        <p:spPr>
          <a:xfrm>
            <a:off x="1327904" y="2278245"/>
            <a:ext cx="172159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747474"/>
                </a:solidFill>
              </a:rPr>
              <a:t>Data Sources</a:t>
            </a:r>
            <a:endParaRPr lang="en-US" sz="2000" dirty="0">
              <a:solidFill>
                <a:srgbClr val="747474"/>
              </a:solidFill>
            </a:endParaRPr>
          </a:p>
        </p:txBody>
      </p:sp>
      <p:cxnSp>
        <p:nvCxnSpPr>
          <p:cNvPr id="24" name="Straight Arrow Connector 23">
            <a:extLst>
              <a:ext uri="{FF2B5EF4-FFF2-40B4-BE49-F238E27FC236}">
                <a16:creationId xmlns:a16="http://schemas.microsoft.com/office/drawing/2014/main" id="{2F86D971-3CB1-61EB-4A89-D5B947C9BF50}"/>
              </a:ext>
            </a:extLst>
          </p:cNvPr>
          <p:cNvCxnSpPr>
            <a:cxnSpLocks/>
          </p:cNvCxnSpPr>
          <p:nvPr/>
        </p:nvCxnSpPr>
        <p:spPr>
          <a:xfrm>
            <a:off x="2125213" y="3296825"/>
            <a:ext cx="9601" cy="944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5" name="Picture 24" descr="A black line drawing of a server&#10;&#10;AI-generated content may be incorrect.">
            <a:extLst>
              <a:ext uri="{FF2B5EF4-FFF2-40B4-BE49-F238E27FC236}">
                <a16:creationId xmlns:a16="http://schemas.microsoft.com/office/drawing/2014/main" id="{ED3FA4BE-0CE0-F39A-A692-C9A0EC2D7E01}"/>
              </a:ext>
            </a:extLst>
          </p:cNvPr>
          <p:cNvPicPr>
            <a:picLocks noChangeAspect="1"/>
          </p:cNvPicPr>
          <p:nvPr/>
        </p:nvPicPr>
        <p:blipFill>
          <a:blip r:embed="rId3">
            <a:alphaModFix amt="91000"/>
          </a:blip>
          <a:stretch>
            <a:fillRect/>
          </a:stretch>
        </p:blipFill>
        <p:spPr>
          <a:xfrm>
            <a:off x="1687673" y="4217152"/>
            <a:ext cx="957544" cy="970431"/>
          </a:xfrm>
          <a:prstGeom prst="rect">
            <a:avLst/>
          </a:prstGeom>
        </p:spPr>
      </p:pic>
      <p:sp>
        <p:nvSpPr>
          <p:cNvPr id="26" name="TextBox 25">
            <a:extLst>
              <a:ext uri="{FF2B5EF4-FFF2-40B4-BE49-F238E27FC236}">
                <a16:creationId xmlns:a16="http://schemas.microsoft.com/office/drawing/2014/main" id="{C8402611-277B-5840-0DF8-E050078DC6EC}"/>
              </a:ext>
            </a:extLst>
          </p:cNvPr>
          <p:cNvSpPr txBox="1"/>
          <p:nvPr/>
        </p:nvSpPr>
        <p:spPr>
          <a:xfrm>
            <a:off x="1326368" y="5232760"/>
            <a:ext cx="17215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747474"/>
                </a:solidFill>
              </a:rPr>
              <a:t>Data Ingestion Pipeline</a:t>
            </a:r>
            <a:endParaRPr lang="en-US" sz="1600" dirty="0">
              <a:solidFill>
                <a:srgbClr val="747474"/>
              </a:solidFill>
            </a:endParaRPr>
          </a:p>
        </p:txBody>
      </p:sp>
      <p:cxnSp>
        <p:nvCxnSpPr>
          <p:cNvPr id="27" name="Straight Arrow Connector 26">
            <a:extLst>
              <a:ext uri="{FF2B5EF4-FFF2-40B4-BE49-F238E27FC236}">
                <a16:creationId xmlns:a16="http://schemas.microsoft.com/office/drawing/2014/main" id="{70E7995B-872C-4AB0-6674-AEAA7029EDE9}"/>
              </a:ext>
            </a:extLst>
          </p:cNvPr>
          <p:cNvCxnSpPr>
            <a:cxnSpLocks/>
          </p:cNvCxnSpPr>
          <p:nvPr/>
        </p:nvCxnSpPr>
        <p:spPr>
          <a:xfrm>
            <a:off x="2640686" y="4955768"/>
            <a:ext cx="951996" cy="137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3" name="Picture 12" descr="Setting - Free technology icons">
            <a:extLst>
              <a:ext uri="{FF2B5EF4-FFF2-40B4-BE49-F238E27FC236}">
                <a16:creationId xmlns:a16="http://schemas.microsoft.com/office/drawing/2014/main" id="{91EBF3D6-B390-E569-E095-4D420C29F75E}"/>
              </a:ext>
            </a:extLst>
          </p:cNvPr>
          <p:cNvPicPr>
            <a:picLocks noChangeAspect="1"/>
          </p:cNvPicPr>
          <p:nvPr/>
        </p:nvPicPr>
        <p:blipFill>
          <a:blip r:embed="rId4">
            <a:alphaModFix amt="20000"/>
            <a:extLst>
              <a:ext uri="{BEBA8EAE-BF5A-486C-A8C5-ECC9F3942E4B}">
                <a14:imgProps xmlns:a14="http://schemas.microsoft.com/office/drawing/2010/main">
                  <a14:imgLayer r:embed="rId5">
                    <a14:imgEffect>
                      <a14:saturation sat="400000"/>
                    </a14:imgEffect>
                    <a14:imgEffect>
                      <a14:brightnessContrast contrast="-21000"/>
                    </a14:imgEffect>
                  </a14:imgLayer>
                </a14:imgProps>
              </a:ext>
            </a:extLst>
          </a:blip>
          <a:stretch>
            <a:fillRect/>
          </a:stretch>
        </p:blipFill>
        <p:spPr>
          <a:xfrm>
            <a:off x="4763038" y="2375078"/>
            <a:ext cx="1056068" cy="1023872"/>
          </a:xfrm>
          <a:prstGeom prst="rect">
            <a:avLst/>
          </a:prstGeom>
        </p:spPr>
      </p:pic>
      <p:pic>
        <p:nvPicPr>
          <p:cNvPr id="14" name="Picture 13" descr="Service Delivery Business Process Line Icon Vector Illustration Stock  Vector - Illustration of alignment, workflow: 334982502">
            <a:extLst>
              <a:ext uri="{FF2B5EF4-FFF2-40B4-BE49-F238E27FC236}">
                <a16:creationId xmlns:a16="http://schemas.microsoft.com/office/drawing/2014/main" id="{F7159A22-0E38-993E-9300-AE6BF324F309}"/>
              </a:ext>
            </a:extLst>
          </p:cNvPr>
          <p:cNvPicPr>
            <a:picLocks noChangeAspect="1"/>
          </p:cNvPicPr>
          <p:nvPr/>
        </p:nvPicPr>
        <p:blipFill>
          <a:blip r:embed="rId6">
            <a:alphaModFix amt="57000"/>
          </a:blip>
          <a:stretch>
            <a:fillRect/>
          </a:stretch>
        </p:blipFill>
        <p:spPr>
          <a:xfrm>
            <a:off x="6854908" y="2339251"/>
            <a:ext cx="1060645" cy="1027028"/>
          </a:xfrm>
          <a:prstGeom prst="rect">
            <a:avLst/>
          </a:prstGeom>
        </p:spPr>
      </p:pic>
      <p:cxnSp>
        <p:nvCxnSpPr>
          <p:cNvPr id="21" name="Straight Arrow Connector 20">
            <a:extLst>
              <a:ext uri="{FF2B5EF4-FFF2-40B4-BE49-F238E27FC236}">
                <a16:creationId xmlns:a16="http://schemas.microsoft.com/office/drawing/2014/main" id="{B535563B-6CFA-1181-D8E0-F5962FF86DF0}"/>
              </a:ext>
            </a:extLst>
          </p:cNvPr>
          <p:cNvCxnSpPr>
            <a:cxnSpLocks/>
          </p:cNvCxnSpPr>
          <p:nvPr/>
        </p:nvCxnSpPr>
        <p:spPr>
          <a:xfrm flipH="1" flipV="1">
            <a:off x="10315107" y="3230877"/>
            <a:ext cx="4767" cy="1967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49E4BF7A-9921-DBA6-0C1C-94C27C47D50E}"/>
              </a:ext>
            </a:extLst>
          </p:cNvPr>
          <p:cNvCxnSpPr>
            <a:cxnSpLocks/>
          </p:cNvCxnSpPr>
          <p:nvPr/>
        </p:nvCxnSpPr>
        <p:spPr>
          <a:xfrm>
            <a:off x="5676060" y="3291459"/>
            <a:ext cx="1009761" cy="5546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0663A5C-49D1-CECF-A0B9-EEA49A0E5FF6}"/>
              </a:ext>
            </a:extLst>
          </p:cNvPr>
          <p:cNvCxnSpPr>
            <a:cxnSpLocks/>
          </p:cNvCxnSpPr>
          <p:nvPr/>
        </p:nvCxnSpPr>
        <p:spPr>
          <a:xfrm flipH="1">
            <a:off x="7426040" y="3393259"/>
            <a:ext cx="7291" cy="4619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D766CC4-7B63-8F26-A82D-31BF816BA9C4}"/>
              </a:ext>
            </a:extLst>
          </p:cNvPr>
          <p:cNvCxnSpPr>
            <a:cxnSpLocks/>
          </p:cNvCxnSpPr>
          <p:nvPr/>
        </p:nvCxnSpPr>
        <p:spPr>
          <a:xfrm flipV="1">
            <a:off x="7913026" y="2820135"/>
            <a:ext cx="1824095" cy="90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2" name="Picture 31" descr="Business intelligence - Free computer icons">
            <a:extLst>
              <a:ext uri="{FF2B5EF4-FFF2-40B4-BE49-F238E27FC236}">
                <a16:creationId xmlns:a16="http://schemas.microsoft.com/office/drawing/2014/main" id="{7A98E680-44D3-C554-93CA-E3517308E166}"/>
              </a:ext>
            </a:extLst>
          </p:cNvPr>
          <p:cNvPicPr>
            <a:picLocks noChangeAspect="1"/>
          </p:cNvPicPr>
          <p:nvPr/>
        </p:nvPicPr>
        <p:blipFill>
          <a:blip r:embed="rId7">
            <a:extLst>
              <a:ext uri="{BEBA8EAE-BF5A-486C-A8C5-ECC9F3942E4B}">
                <a14:imgProps xmlns:a14="http://schemas.microsoft.com/office/drawing/2010/main">
                  <a14:imgLayer r:embed="rId8">
                    <a14:imgEffect>
                      <a14:saturation sat="38000"/>
                    </a14:imgEffect>
                    <a14:imgEffect>
                      <a14:brightnessContrast bright="10000" contrast="-21000"/>
                    </a14:imgEffect>
                  </a14:imgLayer>
                </a14:imgProps>
              </a:ext>
            </a:extLst>
          </a:blip>
          <a:stretch>
            <a:fillRect/>
          </a:stretch>
        </p:blipFill>
        <p:spPr>
          <a:xfrm>
            <a:off x="9525001" y="1996225"/>
            <a:ext cx="1599126" cy="1556198"/>
          </a:xfrm>
          <a:prstGeom prst="rect">
            <a:avLst/>
          </a:prstGeom>
        </p:spPr>
      </p:pic>
      <p:sp>
        <p:nvSpPr>
          <p:cNvPr id="33" name="TextBox 32">
            <a:extLst>
              <a:ext uri="{FF2B5EF4-FFF2-40B4-BE49-F238E27FC236}">
                <a16:creationId xmlns:a16="http://schemas.microsoft.com/office/drawing/2014/main" id="{7D95B943-A12C-5E57-110D-49E04FC0A8BD}"/>
              </a:ext>
            </a:extLst>
          </p:cNvPr>
          <p:cNvSpPr txBox="1"/>
          <p:nvPr/>
        </p:nvSpPr>
        <p:spPr>
          <a:xfrm>
            <a:off x="9515300" y="1257803"/>
            <a:ext cx="2259480" cy="861774"/>
          </a:xfrm>
          <a:prstGeom prst="rect">
            <a:avLst/>
          </a:prstGeom>
          <a:noFill/>
          <a:ln>
            <a:solidFill>
              <a:schemeClr val="accent6">
                <a:lumMod val="60000"/>
                <a:lumOff val="4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747474"/>
                </a:solidFill>
              </a:rPr>
              <a:t>BI Dashboard</a:t>
            </a:r>
            <a:endParaRPr lang="en-US" dirty="0">
              <a:solidFill>
                <a:srgbClr val="747474"/>
              </a:solidFill>
            </a:endParaRPr>
          </a:p>
          <a:p>
            <a:pPr marL="171450" indent="-171450">
              <a:buFont typeface="Arial"/>
              <a:buChar char="•"/>
            </a:pPr>
            <a:r>
              <a:rPr lang="en-US" sz="1200" dirty="0">
                <a:solidFill>
                  <a:srgbClr val="747474"/>
                </a:solidFill>
              </a:rPr>
              <a:t>Visualizations</a:t>
            </a:r>
            <a:endParaRPr lang="en-US" sz="1200">
              <a:solidFill>
                <a:srgbClr val="747474"/>
              </a:solidFill>
            </a:endParaRPr>
          </a:p>
          <a:p>
            <a:pPr marL="171450" indent="-171450">
              <a:buFont typeface="Arial"/>
              <a:buChar char="•"/>
            </a:pPr>
            <a:r>
              <a:rPr lang="en-US" sz="1200" dirty="0">
                <a:solidFill>
                  <a:srgbClr val="747474"/>
                </a:solidFill>
              </a:rPr>
              <a:t>Real Time Monitoring</a:t>
            </a:r>
          </a:p>
          <a:p>
            <a:pPr marL="171450" indent="-171450">
              <a:buFont typeface="Arial"/>
              <a:buChar char="•"/>
            </a:pPr>
            <a:r>
              <a:rPr lang="en-US" sz="1200" dirty="0">
                <a:solidFill>
                  <a:srgbClr val="747474"/>
                </a:solidFill>
              </a:rPr>
              <a:t>Alerting</a:t>
            </a:r>
          </a:p>
        </p:txBody>
      </p:sp>
      <p:sp>
        <p:nvSpPr>
          <p:cNvPr id="7" name="TextBox 6">
            <a:extLst>
              <a:ext uri="{FF2B5EF4-FFF2-40B4-BE49-F238E27FC236}">
                <a16:creationId xmlns:a16="http://schemas.microsoft.com/office/drawing/2014/main" id="{A206B702-6D6C-87CE-15BC-C02ED07B46C9}"/>
              </a:ext>
            </a:extLst>
          </p:cNvPr>
          <p:cNvSpPr txBox="1"/>
          <p:nvPr/>
        </p:nvSpPr>
        <p:spPr>
          <a:xfrm>
            <a:off x="8382000" y="3978088"/>
            <a:ext cx="1075765" cy="47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747474"/>
                </a:solidFill>
                <a:cs typeface="Segoe UI"/>
              </a:rPr>
              <a:t>MLOps &amp; </a:t>
            </a:r>
            <a:r>
              <a:rPr lang="en-US" sz="1200" dirty="0">
                <a:cs typeface="Segoe UI"/>
              </a:rPr>
              <a:t>​</a:t>
            </a:r>
          </a:p>
          <a:p>
            <a:pPr algn="ctr"/>
            <a:r>
              <a:rPr lang="en-US" sz="1200" b="1" dirty="0">
                <a:solidFill>
                  <a:srgbClr val="747474"/>
                </a:solidFill>
                <a:cs typeface="Segoe UI"/>
              </a:rPr>
              <a:t>Governance</a:t>
            </a:r>
            <a:r>
              <a:rPr lang="en-US" sz="1200" dirty="0">
                <a:cs typeface="Segoe UI"/>
              </a:rPr>
              <a:t>​</a:t>
            </a:r>
          </a:p>
        </p:txBody>
      </p:sp>
      <p:cxnSp>
        <p:nvCxnSpPr>
          <p:cNvPr id="8" name="Straight Arrow Connector 7">
            <a:extLst>
              <a:ext uri="{FF2B5EF4-FFF2-40B4-BE49-F238E27FC236}">
                <a16:creationId xmlns:a16="http://schemas.microsoft.com/office/drawing/2014/main" id="{4B4252BB-09EA-4280-4EC6-FFDBF4C84401}"/>
              </a:ext>
            </a:extLst>
          </p:cNvPr>
          <p:cNvCxnSpPr/>
          <p:nvPr/>
        </p:nvCxnSpPr>
        <p:spPr>
          <a:xfrm flipV="1">
            <a:off x="5815180" y="5201725"/>
            <a:ext cx="4514060" cy="5607"/>
          </a:xfrm>
          <a:prstGeom prst="straightConnector1">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617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ECE8-29FB-03EE-4AC4-E90F9B3A1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133E9-A74A-1BC1-6931-0B745C96A8F2}"/>
              </a:ext>
            </a:extLst>
          </p:cNvPr>
          <p:cNvSpPr>
            <a:spLocks noGrp="1"/>
          </p:cNvSpPr>
          <p:nvPr>
            <p:ph type="title"/>
          </p:nvPr>
        </p:nvSpPr>
        <p:spPr>
          <a:xfrm>
            <a:off x="794657" y="310696"/>
            <a:ext cx="10515600" cy="469755"/>
          </a:xfrm>
        </p:spPr>
        <p:txBody>
          <a:bodyPr>
            <a:normAutofit fontScale="90000"/>
          </a:bodyPr>
          <a:lstStyle/>
          <a:p>
            <a:r>
              <a:rPr lang="en-US" sz="3200" dirty="0">
                <a:ea typeface="+mj-lt"/>
                <a:cs typeface="+mj-lt"/>
              </a:rPr>
              <a:t>Dashboard Experience </a:t>
            </a:r>
            <a:r>
              <a:rPr lang="en-US" sz="2700" i="1" dirty="0">
                <a:ea typeface="+mj-lt"/>
                <a:cs typeface="+mj-lt"/>
              </a:rPr>
              <a:t>(Predictive &amp; Conversational Intelligence Layer)</a:t>
            </a:r>
          </a:p>
        </p:txBody>
      </p:sp>
      <p:sp>
        <p:nvSpPr>
          <p:cNvPr id="4" name="TextBox 3">
            <a:extLst>
              <a:ext uri="{FF2B5EF4-FFF2-40B4-BE49-F238E27FC236}">
                <a16:creationId xmlns:a16="http://schemas.microsoft.com/office/drawing/2014/main" id="{AC7F3CDC-8DA2-CAAC-3D5A-6039AD80712A}"/>
              </a:ext>
            </a:extLst>
          </p:cNvPr>
          <p:cNvSpPr txBox="1"/>
          <p:nvPr/>
        </p:nvSpPr>
        <p:spPr>
          <a:xfrm>
            <a:off x="860739" y="1016674"/>
            <a:ext cx="10878353"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3A3A3A"/>
                </a:solidFill>
                <a:ea typeface="+mn-lt"/>
                <a:cs typeface="+mn-lt"/>
              </a:rPr>
              <a:t>User Views :</a:t>
            </a:r>
            <a:endParaRPr lang="en-US" b="1" dirty="0">
              <a:ea typeface="+mn-lt"/>
              <a:cs typeface="+mn-lt"/>
            </a:endParaRPr>
          </a:p>
          <a:p>
            <a:pPr marL="285750" indent="-285750">
              <a:buFont typeface="Arial"/>
              <a:buChar char="•"/>
            </a:pPr>
            <a:r>
              <a:rPr lang="en-US" sz="1600" b="1" dirty="0">
                <a:solidFill>
                  <a:srgbClr val="3A3A3A"/>
                </a:solidFill>
                <a:ea typeface="+mn-lt"/>
                <a:cs typeface="+mn-lt"/>
              </a:rPr>
              <a:t>Operations View – Real-Time Analytics:</a:t>
            </a:r>
            <a:r>
              <a:rPr lang="en-US" sz="1600" dirty="0">
                <a:solidFill>
                  <a:srgbClr val="3A3A3A"/>
                </a:solidFill>
                <a:ea typeface="+mn-lt"/>
                <a:cs typeface="+mn-lt"/>
              </a:rPr>
              <a:t> Displays close to real time KPI trends, anomaly counters, and machine health indicators. Operators gain instant visibility into plant status with dynamic alerts for deviations or performance drifts.</a:t>
            </a:r>
            <a:endParaRPr lang="en-US" dirty="0">
              <a:ea typeface="+mn-lt"/>
              <a:cs typeface="+mn-lt"/>
            </a:endParaRPr>
          </a:p>
          <a:p>
            <a:pPr marL="285750" indent="-285750">
              <a:buFont typeface="Arial"/>
              <a:buChar char="•"/>
            </a:pPr>
            <a:r>
              <a:rPr lang="en-US" sz="1600" b="1" dirty="0">
                <a:solidFill>
                  <a:srgbClr val="3A3A3A"/>
                </a:solidFill>
                <a:ea typeface="+mn-lt"/>
                <a:cs typeface="+mn-lt"/>
              </a:rPr>
              <a:t>Engineer View – Predictive Analytics:</a:t>
            </a:r>
            <a:r>
              <a:rPr lang="en-US" sz="1600" dirty="0">
                <a:solidFill>
                  <a:srgbClr val="3A3A3A"/>
                </a:solidFill>
                <a:ea typeface="+mn-lt"/>
                <a:cs typeface="+mn-lt"/>
              </a:rPr>
              <a:t> Enables early fault prediction through PCA plots, correlation analysis, and trend forecasting. Engineers can pinpoint degrading components and schedule timely interventions.</a:t>
            </a:r>
            <a:endParaRPr lang="en-US" dirty="0">
              <a:ea typeface="+mn-lt"/>
              <a:cs typeface="+mn-lt"/>
            </a:endParaRPr>
          </a:p>
          <a:p>
            <a:pPr marL="285750" indent="-285750">
              <a:buFont typeface="Arial"/>
              <a:buChar char="•"/>
            </a:pPr>
            <a:r>
              <a:rPr lang="en-US" sz="1600" b="1" dirty="0">
                <a:solidFill>
                  <a:srgbClr val="3A3A3A"/>
                </a:solidFill>
                <a:ea typeface="+mn-lt"/>
                <a:cs typeface="+mn-lt"/>
              </a:rPr>
              <a:t>Supervisor View – LLM Chat Interface:</a:t>
            </a:r>
            <a:r>
              <a:rPr lang="en-US" sz="1600" dirty="0">
                <a:solidFill>
                  <a:srgbClr val="3A3A3A"/>
                </a:solidFill>
                <a:ea typeface="+mn-lt"/>
                <a:cs typeface="+mn-lt"/>
              </a:rPr>
              <a:t> An AI assistant powered by a domain-trained LLM lets users ask natural language questions such as </a:t>
            </a:r>
            <a:r>
              <a:rPr lang="en-US" sz="1600" i="1" dirty="0">
                <a:solidFill>
                  <a:srgbClr val="3A3A3A"/>
                </a:solidFill>
                <a:ea typeface="+mn-lt"/>
                <a:cs typeface="+mn-lt"/>
              </a:rPr>
              <a:t>“Which crusher shows abnormal vibration?”</a:t>
            </a:r>
            <a:r>
              <a:rPr lang="en-US" sz="1600" dirty="0">
                <a:solidFill>
                  <a:srgbClr val="3A3A3A"/>
                </a:solidFill>
                <a:ea typeface="+mn-lt"/>
                <a:cs typeface="+mn-lt"/>
              </a:rPr>
              <a:t> or </a:t>
            </a:r>
            <a:r>
              <a:rPr lang="en-US" sz="1600" i="1" dirty="0">
                <a:solidFill>
                  <a:srgbClr val="3A3A3A"/>
                </a:solidFill>
                <a:ea typeface="+mn-lt"/>
                <a:cs typeface="+mn-lt"/>
              </a:rPr>
              <a:t>“Summarize root causes from this week.”</a:t>
            </a:r>
            <a:endParaRPr lang="en-US" dirty="0"/>
          </a:p>
          <a:p>
            <a:pPr marL="285750" indent="-285750">
              <a:buFont typeface="Arial"/>
              <a:buChar char="•"/>
            </a:pPr>
            <a:endParaRPr lang="en-US" sz="1600" dirty="0">
              <a:solidFill>
                <a:srgbClr val="3A3A3A"/>
              </a:solidFill>
              <a:ea typeface="+mn-lt"/>
              <a:cs typeface="+mn-lt"/>
            </a:endParaRPr>
          </a:p>
          <a:p>
            <a:r>
              <a:rPr lang="en-US" b="1" dirty="0">
                <a:solidFill>
                  <a:srgbClr val="3A3A3A"/>
                </a:solidFill>
                <a:ea typeface="+mn-lt"/>
                <a:cs typeface="+mn-lt"/>
              </a:rPr>
              <a:t>Key Features :</a:t>
            </a:r>
            <a:endParaRPr lang="en-US" b="1" dirty="0">
              <a:ea typeface="+mn-lt"/>
              <a:cs typeface="+mn-lt"/>
            </a:endParaRPr>
          </a:p>
          <a:p>
            <a:pPr marL="285750" indent="-285750">
              <a:buFont typeface="Arial"/>
              <a:buChar char="•"/>
            </a:pPr>
            <a:r>
              <a:rPr lang="en-US" sz="1600" b="1" dirty="0">
                <a:solidFill>
                  <a:srgbClr val="3A3A3A"/>
                </a:solidFill>
                <a:ea typeface="+mn-lt"/>
                <a:cs typeface="+mn-lt"/>
              </a:rPr>
              <a:t>Predictive Analytics:</a:t>
            </a:r>
            <a:r>
              <a:rPr lang="en-US" sz="1600" dirty="0">
                <a:solidFill>
                  <a:srgbClr val="3A3A3A"/>
                </a:solidFill>
                <a:ea typeface="+mn-lt"/>
                <a:cs typeface="+mn-lt"/>
              </a:rPr>
              <a:t> Forecasts asset health for the next 24–48 hours using AI-driven anomaly patterns.</a:t>
            </a:r>
            <a:endParaRPr lang="en-US" dirty="0">
              <a:ea typeface="+mn-lt"/>
              <a:cs typeface="+mn-lt"/>
            </a:endParaRPr>
          </a:p>
          <a:p>
            <a:pPr marL="285750" indent="-285750">
              <a:buFont typeface="Arial"/>
              <a:buChar char="•"/>
            </a:pPr>
            <a:r>
              <a:rPr lang="en-US" sz="1600" b="1" dirty="0">
                <a:solidFill>
                  <a:srgbClr val="3A3A3A"/>
                </a:solidFill>
                <a:ea typeface="+mn-lt"/>
                <a:cs typeface="+mn-lt"/>
              </a:rPr>
              <a:t>Real-Time Insights:</a:t>
            </a:r>
            <a:r>
              <a:rPr lang="en-US" sz="1600" dirty="0">
                <a:solidFill>
                  <a:srgbClr val="3A3A3A"/>
                </a:solidFill>
                <a:ea typeface="+mn-lt"/>
                <a:cs typeface="+mn-lt"/>
              </a:rPr>
              <a:t> Continuously ingests SCADA and sensor data for second-by-second operational awareness.</a:t>
            </a:r>
            <a:endParaRPr lang="en-US" dirty="0"/>
          </a:p>
          <a:p>
            <a:pPr marL="285750" indent="-285750">
              <a:buFont typeface="Arial"/>
              <a:buChar char="•"/>
            </a:pPr>
            <a:r>
              <a:rPr lang="en-US" sz="1600" b="1" dirty="0">
                <a:solidFill>
                  <a:srgbClr val="3A3A3A"/>
                </a:solidFill>
                <a:ea typeface="+mn-lt"/>
                <a:cs typeface="+mn-lt"/>
              </a:rPr>
              <a:t>LLM Chat Companion:</a:t>
            </a:r>
            <a:r>
              <a:rPr lang="en-US" sz="1600" dirty="0">
                <a:solidFill>
                  <a:srgbClr val="3A3A3A"/>
                </a:solidFill>
                <a:ea typeface="+mn-lt"/>
                <a:cs typeface="+mn-lt"/>
              </a:rPr>
              <a:t> Delivers quick summaries, anomaly pattern insights, and action recommendations conversationally.</a:t>
            </a:r>
            <a:endParaRPr lang="en-US" dirty="0">
              <a:ea typeface="+mn-lt"/>
              <a:cs typeface="+mn-lt"/>
            </a:endParaRPr>
          </a:p>
          <a:p>
            <a:endParaRPr lang="en-US" sz="1600" dirty="0">
              <a:solidFill>
                <a:srgbClr val="3A3A3A"/>
              </a:solidFill>
              <a:ea typeface="+mn-lt"/>
              <a:cs typeface="+mn-lt"/>
            </a:endParaRPr>
          </a:p>
          <a:p>
            <a:r>
              <a:rPr lang="en-US" b="1" dirty="0">
                <a:solidFill>
                  <a:srgbClr val="3A3A3A"/>
                </a:solidFill>
                <a:latin typeface="Calibri"/>
                <a:ea typeface="Calibri"/>
                <a:cs typeface="Calibri"/>
              </a:rPr>
              <a:t>Business Value:</a:t>
            </a:r>
            <a:endParaRPr lang="en-US" dirty="0">
              <a:solidFill>
                <a:srgbClr val="3A3A3A"/>
              </a:solidFill>
              <a:latin typeface="Calibri"/>
              <a:ea typeface="Calibri"/>
              <a:cs typeface="Calibri"/>
            </a:endParaRPr>
          </a:p>
          <a:p>
            <a:r>
              <a:rPr lang="en-US" sz="1600" dirty="0">
                <a:solidFill>
                  <a:srgbClr val="3A3A3A"/>
                </a:solidFill>
                <a:ea typeface="+mn-lt"/>
                <a:cs typeface="+mn-lt"/>
              </a:rPr>
              <a:t>A unified, intelligent dashboard that predicts issues, explains anomalies, and provide insights. Combining predictive models, real-time analytics, and an LLM interface, it reduces downtime, accelerates decisions, and improves collaboration across operations, engineering, and maintenance teams, transforming Business's maintenance strategy into a proactive, insight-driven system.</a:t>
            </a:r>
            <a:endParaRPr lang="en-US" dirty="0">
              <a:ea typeface="+mn-lt"/>
              <a:cs typeface="+mn-lt"/>
            </a:endParaRPr>
          </a:p>
        </p:txBody>
      </p:sp>
    </p:spTree>
    <p:extLst>
      <p:ext uri="{BB962C8B-B14F-4D97-AF65-F5344CB8AC3E}">
        <p14:creationId xmlns:p14="http://schemas.microsoft.com/office/powerpoint/2010/main" val="40332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0CF0-DB93-A068-945A-1328402EE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1D4D0-7FDD-DF59-7888-64DE39338A6B}"/>
              </a:ext>
            </a:extLst>
          </p:cNvPr>
          <p:cNvSpPr>
            <a:spLocks noGrp="1"/>
          </p:cNvSpPr>
          <p:nvPr>
            <p:ph type="title"/>
          </p:nvPr>
        </p:nvSpPr>
        <p:spPr>
          <a:xfrm>
            <a:off x="794657" y="310696"/>
            <a:ext cx="10515600" cy="469755"/>
          </a:xfrm>
        </p:spPr>
        <p:txBody>
          <a:bodyPr>
            <a:normAutofit/>
          </a:bodyPr>
          <a:lstStyle/>
          <a:p>
            <a:r>
              <a:rPr lang="en-US" sz="2700" dirty="0">
                <a:ea typeface="+mj-lt"/>
                <a:cs typeface="+mj-lt"/>
              </a:rPr>
              <a:t>Proposed engagement roadmap for MVP </a:t>
            </a:r>
            <a:r>
              <a:rPr lang="en-US" sz="2000" i="1" dirty="0">
                <a:ea typeface="+mj-lt"/>
                <a:cs typeface="+mj-lt"/>
              </a:rPr>
              <a:t>(Indicative – Based on Data Availability)</a:t>
            </a:r>
            <a:endParaRPr lang="en-US" sz="3600" i="1"/>
          </a:p>
        </p:txBody>
      </p:sp>
      <p:sp>
        <p:nvSpPr>
          <p:cNvPr id="4" name="TextBox 3">
            <a:extLst>
              <a:ext uri="{FF2B5EF4-FFF2-40B4-BE49-F238E27FC236}">
                <a16:creationId xmlns:a16="http://schemas.microsoft.com/office/drawing/2014/main" id="{68FF1B61-812E-7ECF-DD22-7B11B0526942}"/>
              </a:ext>
            </a:extLst>
          </p:cNvPr>
          <p:cNvSpPr txBox="1"/>
          <p:nvPr/>
        </p:nvSpPr>
        <p:spPr>
          <a:xfrm>
            <a:off x="1028827" y="1165507"/>
            <a:ext cx="10878353"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3A3A3A"/>
                </a:solidFill>
                <a:ea typeface="+mn-lt"/>
                <a:cs typeface="+mn-lt"/>
              </a:rPr>
              <a:t>Phase 1: Discovery &amp; Alignment (Weeks 1–3)</a:t>
            </a:r>
            <a:endParaRPr lang="en-US" dirty="0"/>
          </a:p>
          <a:p>
            <a:pPr marL="285750" indent="-285750">
              <a:buFont typeface="Arial"/>
              <a:buChar char="•"/>
            </a:pPr>
            <a:r>
              <a:rPr lang="en-US" dirty="0">
                <a:solidFill>
                  <a:srgbClr val="3A3A3A"/>
                </a:solidFill>
                <a:ea typeface="+mn-lt"/>
                <a:cs typeface="+mn-lt"/>
              </a:rPr>
              <a:t>Stakeholder workshops, KPI finalization, and ROI baseline setup.</a:t>
            </a:r>
            <a:endParaRPr lang="en-US" dirty="0">
              <a:ea typeface="+mn-lt"/>
              <a:cs typeface="+mn-lt"/>
            </a:endParaRPr>
          </a:p>
          <a:p>
            <a:r>
              <a:rPr lang="en-US" b="1" dirty="0">
                <a:solidFill>
                  <a:srgbClr val="3A3A3A"/>
                </a:solidFill>
                <a:ea typeface="+mn-lt"/>
                <a:cs typeface="+mn-lt"/>
              </a:rPr>
              <a:t>Phase 2: Data Readiness (Weeks 4–5)</a:t>
            </a:r>
            <a:endParaRPr lang="en-US" dirty="0"/>
          </a:p>
          <a:p>
            <a:pPr marL="285750" indent="-285750">
              <a:buFont typeface="Arial"/>
              <a:buChar char="•"/>
            </a:pPr>
            <a:r>
              <a:rPr lang="en-US" dirty="0">
                <a:solidFill>
                  <a:srgbClr val="3A3A3A"/>
                </a:solidFill>
                <a:ea typeface="+mn-lt"/>
                <a:cs typeface="+mn-lt"/>
              </a:rPr>
              <a:t>Ingest &amp; clean SCADA/sensor data, establish security pipeline.</a:t>
            </a:r>
            <a:endParaRPr lang="en-US" dirty="0">
              <a:ea typeface="+mn-lt"/>
              <a:cs typeface="+mn-lt"/>
            </a:endParaRPr>
          </a:p>
          <a:p>
            <a:r>
              <a:rPr lang="en-US" b="1" dirty="0">
                <a:solidFill>
                  <a:srgbClr val="3A3A3A"/>
                </a:solidFill>
                <a:ea typeface="+mn-lt"/>
                <a:cs typeface="+mn-lt"/>
              </a:rPr>
              <a:t>Phase 3: Prototype/MVP &amp; Co-Creation (Weeks 6–9)</a:t>
            </a:r>
            <a:endParaRPr lang="en-US" dirty="0"/>
          </a:p>
          <a:p>
            <a:pPr marL="285750" indent="-285750">
              <a:buFont typeface="Arial"/>
              <a:buChar char="•"/>
            </a:pPr>
            <a:r>
              <a:rPr lang="en-US" dirty="0">
                <a:solidFill>
                  <a:srgbClr val="3A3A3A"/>
                </a:solidFill>
                <a:ea typeface="+mn-lt"/>
                <a:cs typeface="+mn-lt"/>
              </a:rPr>
              <a:t>Build and validate ML/AI models, deploy dashboards.</a:t>
            </a:r>
            <a:endParaRPr lang="en-US" dirty="0">
              <a:ea typeface="+mn-lt"/>
              <a:cs typeface="+mn-lt"/>
            </a:endParaRPr>
          </a:p>
          <a:p>
            <a:r>
              <a:rPr lang="en-US" b="1" dirty="0">
                <a:solidFill>
                  <a:srgbClr val="3A3A3A"/>
                </a:solidFill>
                <a:ea typeface="+mn-lt"/>
                <a:cs typeface="+mn-lt"/>
              </a:rPr>
              <a:t>Phase 4: Pilot Go live &amp; Feedback (Weeks 10–12)</a:t>
            </a:r>
          </a:p>
          <a:p>
            <a:endParaRPr lang="en-US" b="1" dirty="0">
              <a:solidFill>
                <a:srgbClr val="3A3A3A"/>
              </a:solidFill>
            </a:endParaRPr>
          </a:p>
          <a:p>
            <a:endParaRPr lang="en-US" b="1" dirty="0">
              <a:solidFill>
                <a:srgbClr val="3A3A3A"/>
              </a:solidFill>
            </a:endParaRPr>
          </a:p>
          <a:p>
            <a:r>
              <a:rPr lang="en-US" sz="1400" b="1" dirty="0">
                <a:solidFill>
                  <a:srgbClr val="3A3A3A"/>
                </a:solidFill>
                <a:ea typeface="+mn-lt"/>
                <a:cs typeface="+mn-lt"/>
              </a:rPr>
              <a:t>* Assumption:</a:t>
            </a:r>
            <a:r>
              <a:rPr lang="en-US" sz="1400" dirty="0">
                <a:solidFill>
                  <a:srgbClr val="3A3A3A"/>
                </a:solidFill>
                <a:ea typeface="+mn-lt"/>
                <a:cs typeface="+mn-lt"/>
              </a:rPr>
              <a:t> The above indicative timeline is applicable if historical sensor data and metadata are readily available.</a:t>
            </a:r>
            <a:endParaRPr lang="en-US" sz="1400" dirty="0">
              <a:ea typeface="+mn-lt"/>
              <a:cs typeface="+mn-lt"/>
            </a:endParaRPr>
          </a:p>
          <a:p>
            <a:r>
              <a:rPr lang="en-US" sz="1400" b="1" dirty="0">
                <a:solidFill>
                  <a:srgbClr val="3A3A3A"/>
                </a:solidFill>
                <a:ea typeface="+mn-lt"/>
                <a:cs typeface="+mn-lt"/>
              </a:rPr>
              <a:t>* Scope Assumption:</a:t>
            </a:r>
            <a:r>
              <a:rPr lang="en-US" sz="1400" dirty="0">
                <a:solidFill>
                  <a:srgbClr val="3A3A3A"/>
                </a:solidFill>
                <a:ea typeface="+mn-lt"/>
                <a:cs typeface="+mn-lt"/>
              </a:rPr>
              <a:t> Up to 3 crusher machines and approximately 30 sensors will be considered during this MVP phase.</a:t>
            </a:r>
            <a:endParaRPr lang="en-US" sz="1400">
              <a:ea typeface="+mn-lt"/>
              <a:cs typeface="+mn-lt"/>
            </a:endParaRPr>
          </a:p>
          <a:p>
            <a:r>
              <a:rPr lang="en-US" sz="1400" b="1" dirty="0">
                <a:solidFill>
                  <a:srgbClr val="3A3A3A"/>
                </a:solidFill>
                <a:ea typeface="+mn-lt"/>
                <a:cs typeface="+mn-lt"/>
              </a:rPr>
              <a:t>* Dependencies:</a:t>
            </a:r>
            <a:r>
              <a:rPr lang="en-US" sz="1400" dirty="0">
                <a:solidFill>
                  <a:srgbClr val="3A3A3A"/>
                </a:solidFill>
                <a:ea typeface="+mn-lt"/>
                <a:cs typeface="+mn-lt"/>
              </a:rPr>
              <a:t> Timely access to SCADA/sensor data, stakeholder alignment, and environment readiness (security &amp; connectivity)</a:t>
            </a:r>
            <a:endParaRPr lang="en-US" sz="1400">
              <a:ea typeface="+mn-lt"/>
              <a:cs typeface="+mn-lt"/>
            </a:endParaRPr>
          </a:p>
        </p:txBody>
      </p:sp>
    </p:spTree>
    <p:extLst>
      <p:ext uri="{BB962C8B-B14F-4D97-AF65-F5344CB8AC3E}">
        <p14:creationId xmlns:p14="http://schemas.microsoft.com/office/powerpoint/2010/main" val="16165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27A2B1-B5F8-0FAC-EDDE-CECCC8E186A2}"/>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7E6B327E-BEBC-4AF4-FBE8-45AEA6E54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B101A6A-E44E-32C8-0947-BB1668233984}"/>
              </a:ext>
            </a:extLst>
          </p:cNvPr>
          <p:cNvSpPr>
            <a:spLocks noGrp="1"/>
          </p:cNvSpPr>
          <p:nvPr>
            <p:ph type="ctrTitle"/>
          </p:nvPr>
        </p:nvSpPr>
        <p:spPr>
          <a:xfrm>
            <a:off x="1301261" y="590062"/>
            <a:ext cx="5409655" cy="2838938"/>
          </a:xfrm>
        </p:spPr>
        <p:txBody>
          <a:bodyPr>
            <a:normAutofit/>
          </a:bodyPr>
          <a:lstStyle/>
          <a:p>
            <a:pPr algn="l"/>
            <a:r>
              <a:rPr lang="en-US" sz="5600">
                <a:solidFill>
                  <a:srgbClr val="FFFFFF"/>
                </a:solidFill>
              </a:rPr>
              <a:t>Thank you</a:t>
            </a:r>
          </a:p>
        </p:txBody>
      </p:sp>
      <p:sp>
        <p:nvSpPr>
          <p:cNvPr id="49" name="Graphic 13">
            <a:extLst>
              <a:ext uri="{FF2B5EF4-FFF2-40B4-BE49-F238E27FC236}">
                <a16:creationId xmlns:a16="http://schemas.microsoft.com/office/drawing/2014/main" id="{C1D7F52F-5B67-C4F6-B00D-BFB897E6B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51" name="Graphic 12">
            <a:extLst>
              <a:ext uri="{FF2B5EF4-FFF2-40B4-BE49-F238E27FC236}">
                <a16:creationId xmlns:a16="http://schemas.microsoft.com/office/drawing/2014/main" id="{E7B89C1A-32BC-D3DD-29C6-4E868005A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53" name="Graphic 15">
            <a:extLst>
              <a:ext uri="{FF2B5EF4-FFF2-40B4-BE49-F238E27FC236}">
                <a16:creationId xmlns:a16="http://schemas.microsoft.com/office/drawing/2014/main" id="{C92F139B-F484-87F3-0100-862CDC4F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55" name="Straight Connector 54">
            <a:extLst>
              <a:ext uri="{FF2B5EF4-FFF2-40B4-BE49-F238E27FC236}">
                <a16:creationId xmlns:a16="http://schemas.microsoft.com/office/drawing/2014/main" id="{F18F0BB3-2121-8F4D-8197-6B4220506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Picture 4" descr="A blue and orange neon sign&#10;&#10;AI-generated content may be incorrect.">
            <a:extLst>
              <a:ext uri="{FF2B5EF4-FFF2-40B4-BE49-F238E27FC236}">
                <a16:creationId xmlns:a16="http://schemas.microsoft.com/office/drawing/2014/main" id="{4128169C-881E-5B21-090E-BD98B4CCEFEE}"/>
              </a:ext>
            </a:extLst>
          </p:cNvPr>
          <p:cNvPicPr>
            <a:picLocks noChangeAspect="1"/>
          </p:cNvPicPr>
          <p:nvPr/>
        </p:nvPicPr>
        <p:blipFill>
          <a:blip r:embed="rId2"/>
          <a:stretch>
            <a:fillRect/>
          </a:stretch>
        </p:blipFill>
        <p:spPr>
          <a:xfrm>
            <a:off x="10648950" y="136752"/>
            <a:ext cx="1409700" cy="466725"/>
          </a:xfrm>
          <a:prstGeom prst="rect">
            <a:avLst/>
          </a:prstGeom>
        </p:spPr>
      </p:pic>
    </p:spTree>
    <p:extLst>
      <p:ext uri="{BB962C8B-B14F-4D97-AF65-F5344CB8AC3E}">
        <p14:creationId xmlns:p14="http://schemas.microsoft.com/office/powerpoint/2010/main" val="3611463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D59C4-8BF4-36D7-111D-8F65F22EA716}"/>
              </a:ext>
            </a:extLst>
          </p:cNvPr>
          <p:cNvSpPr>
            <a:spLocks noGrp="1"/>
          </p:cNvSpPr>
          <p:nvPr>
            <p:ph type="title"/>
          </p:nvPr>
        </p:nvSpPr>
        <p:spPr>
          <a:xfrm>
            <a:off x="831850" y="1709738"/>
            <a:ext cx="10515600" cy="1250296"/>
          </a:xfrm>
        </p:spPr>
        <p:txBody>
          <a:bodyPr/>
          <a:lstStyle/>
          <a:p>
            <a:r>
              <a:rPr lang="en-US" dirty="0"/>
              <a:t>Annexure</a:t>
            </a:r>
          </a:p>
        </p:txBody>
      </p:sp>
      <p:sp>
        <p:nvSpPr>
          <p:cNvPr id="3" name="Text Placeholder 2">
            <a:extLst>
              <a:ext uri="{FF2B5EF4-FFF2-40B4-BE49-F238E27FC236}">
                <a16:creationId xmlns:a16="http://schemas.microsoft.com/office/drawing/2014/main" id="{CA032B7C-81F7-F7CC-9D1F-E17B8AF1F75B}"/>
              </a:ext>
            </a:extLst>
          </p:cNvPr>
          <p:cNvSpPr>
            <a:spLocks noGrp="1"/>
          </p:cNvSpPr>
          <p:nvPr>
            <p:ph type="body" idx="1"/>
          </p:nvPr>
        </p:nvSpPr>
        <p:spPr>
          <a:xfrm>
            <a:off x="831850" y="3121492"/>
            <a:ext cx="10515600" cy="1500187"/>
          </a:xfrm>
        </p:spPr>
        <p:txBody>
          <a:bodyPr vert="horz" lIns="91440" tIns="45720" rIns="91440" bIns="45720" rtlCol="0" anchor="t">
            <a:normAutofit/>
          </a:bodyPr>
          <a:lstStyle/>
          <a:p>
            <a:r>
              <a:rPr lang="en-US" dirty="0"/>
              <a:t>Model Development &amp; Dashboard views</a:t>
            </a:r>
          </a:p>
        </p:txBody>
      </p:sp>
    </p:spTree>
    <p:extLst>
      <p:ext uri="{BB962C8B-B14F-4D97-AF65-F5344CB8AC3E}">
        <p14:creationId xmlns:p14="http://schemas.microsoft.com/office/powerpoint/2010/main" val="4196233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EE12B6-F16F-6DAC-DF5B-5682F68EEC3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958376AC-93CA-EF51-5670-DE080607DE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233712-02EA-58B1-7372-E41E5BCBA07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a:t>
            </a:r>
            <a:r>
              <a:rPr lang="en-US" sz="3000" dirty="0">
                <a:solidFill>
                  <a:schemeClr val="bg1"/>
                </a:solidFill>
              </a:rPr>
              <a:t>– Model Development</a:t>
            </a:r>
            <a:endParaRPr lang="en-US" sz="3000" kern="1200" dirty="0">
              <a:solidFill>
                <a:schemeClr val="bg1"/>
              </a:solidFill>
              <a:latin typeface="+mj-lt"/>
              <a:ea typeface="+mj-ea"/>
              <a:cs typeface="+mj-cs"/>
            </a:endParaRPr>
          </a:p>
        </p:txBody>
      </p:sp>
      <p:pic>
        <p:nvPicPr>
          <p:cNvPr id="4" name="Picture 3" descr="A blue and orange neon sign&#10;&#10;AI-generated content may be incorrect.">
            <a:extLst>
              <a:ext uri="{FF2B5EF4-FFF2-40B4-BE49-F238E27FC236}">
                <a16:creationId xmlns:a16="http://schemas.microsoft.com/office/drawing/2014/main" id="{3464FBE4-58B0-57D8-5B98-05B5872E092E}"/>
              </a:ext>
            </a:extLst>
          </p:cNvPr>
          <p:cNvPicPr>
            <a:picLocks noChangeAspect="1"/>
          </p:cNvPicPr>
          <p:nvPr/>
        </p:nvPicPr>
        <p:blipFill>
          <a:blip r:embed="rId2"/>
          <a:stretch>
            <a:fillRect/>
          </a:stretch>
        </p:blipFill>
        <p:spPr>
          <a:xfrm>
            <a:off x="10921093" y="6298066"/>
            <a:ext cx="1104900" cy="368754"/>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C87B51E2-AE7B-3758-DB8E-8BA0B9633F74}"/>
              </a:ext>
            </a:extLst>
          </p:cNvPr>
          <p:cNvPicPr>
            <a:picLocks noChangeAspect="1"/>
          </p:cNvPicPr>
          <p:nvPr/>
        </p:nvPicPr>
        <p:blipFill>
          <a:blip r:embed="rId3"/>
          <a:stretch>
            <a:fillRect/>
          </a:stretch>
        </p:blipFill>
        <p:spPr>
          <a:xfrm>
            <a:off x="0" y="1979858"/>
            <a:ext cx="12192000" cy="4088256"/>
          </a:xfrm>
          <a:prstGeom prst="rect">
            <a:avLst/>
          </a:prstGeom>
        </p:spPr>
      </p:pic>
    </p:spTree>
    <p:extLst>
      <p:ext uri="{BB962C8B-B14F-4D97-AF65-F5344CB8AC3E}">
        <p14:creationId xmlns:p14="http://schemas.microsoft.com/office/powerpoint/2010/main" val="2824856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742243-6C52-18DF-CA00-F1CD08D7102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2CB342F-86C2-8667-EDC7-5DCA5D336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7923BA-CCF8-48D0-38FC-0764F4EC5E9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a:t>
            </a:r>
            <a:r>
              <a:rPr lang="en-US" sz="3000" dirty="0">
                <a:solidFill>
                  <a:schemeClr val="bg1"/>
                </a:solidFill>
              </a:rPr>
              <a:t>– Model Development</a:t>
            </a:r>
            <a:endParaRPr lang="en-US" sz="3000" kern="1200" dirty="0">
              <a:solidFill>
                <a:schemeClr val="bg1"/>
              </a:solidFill>
              <a:latin typeface="+mj-lt"/>
              <a:ea typeface="+mj-ea"/>
              <a:cs typeface="+mj-cs"/>
            </a:endParaRPr>
          </a:p>
        </p:txBody>
      </p:sp>
      <p:pic>
        <p:nvPicPr>
          <p:cNvPr id="4" name="Picture 3" descr="A blue and orange neon sign&#10;&#10;AI-generated content may be incorrect.">
            <a:extLst>
              <a:ext uri="{FF2B5EF4-FFF2-40B4-BE49-F238E27FC236}">
                <a16:creationId xmlns:a16="http://schemas.microsoft.com/office/drawing/2014/main" id="{8636C5E7-E41C-F76E-B2C4-B9EDFE2B1978}"/>
              </a:ext>
            </a:extLst>
          </p:cNvPr>
          <p:cNvPicPr>
            <a:picLocks noChangeAspect="1"/>
          </p:cNvPicPr>
          <p:nvPr/>
        </p:nvPicPr>
        <p:blipFill>
          <a:blip r:embed="rId2"/>
          <a:stretch>
            <a:fillRect/>
          </a:stretch>
        </p:blipFill>
        <p:spPr>
          <a:xfrm>
            <a:off x="10921093" y="6298066"/>
            <a:ext cx="1104900" cy="368754"/>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5B82FABF-1105-D195-ACF5-FAB87890DF4F}"/>
              </a:ext>
            </a:extLst>
          </p:cNvPr>
          <p:cNvPicPr>
            <a:picLocks noChangeAspect="1"/>
          </p:cNvPicPr>
          <p:nvPr/>
        </p:nvPicPr>
        <p:blipFill>
          <a:blip r:embed="rId3"/>
          <a:stretch>
            <a:fillRect/>
          </a:stretch>
        </p:blipFill>
        <p:spPr>
          <a:xfrm>
            <a:off x="816429" y="1488163"/>
            <a:ext cx="10526486" cy="5089988"/>
          </a:xfrm>
          <a:prstGeom prst="rect">
            <a:avLst/>
          </a:prstGeom>
        </p:spPr>
      </p:pic>
    </p:spTree>
    <p:extLst>
      <p:ext uri="{BB962C8B-B14F-4D97-AF65-F5344CB8AC3E}">
        <p14:creationId xmlns:p14="http://schemas.microsoft.com/office/powerpoint/2010/main" val="1438635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926D53-7AB8-76C2-6902-DD42E736D99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84CBAA5-0001-5293-1BE0-D4F2B2DAD3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AB805A-447F-CCC2-06B8-DFB302F48ED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a:t>
            </a:r>
            <a:r>
              <a:rPr lang="en-US" sz="3000" dirty="0">
                <a:solidFill>
                  <a:schemeClr val="bg1"/>
                </a:solidFill>
              </a:rPr>
              <a:t>– Model Development</a:t>
            </a:r>
            <a:endParaRPr lang="en-US" sz="3000" kern="1200" dirty="0">
              <a:solidFill>
                <a:schemeClr val="bg1"/>
              </a:solidFill>
              <a:latin typeface="+mj-lt"/>
              <a:ea typeface="+mj-ea"/>
              <a:cs typeface="+mj-cs"/>
            </a:endParaRPr>
          </a:p>
        </p:txBody>
      </p:sp>
      <p:pic>
        <p:nvPicPr>
          <p:cNvPr id="4" name="Picture 3" descr="A blue and orange neon sign&#10;&#10;AI-generated content may be incorrect.">
            <a:extLst>
              <a:ext uri="{FF2B5EF4-FFF2-40B4-BE49-F238E27FC236}">
                <a16:creationId xmlns:a16="http://schemas.microsoft.com/office/drawing/2014/main" id="{2EECF4BE-AC7F-0C63-3D09-73CA045FA11B}"/>
              </a:ext>
            </a:extLst>
          </p:cNvPr>
          <p:cNvPicPr>
            <a:picLocks noChangeAspect="1"/>
          </p:cNvPicPr>
          <p:nvPr/>
        </p:nvPicPr>
        <p:blipFill>
          <a:blip r:embed="rId2"/>
          <a:stretch>
            <a:fillRect/>
          </a:stretch>
        </p:blipFill>
        <p:spPr>
          <a:xfrm>
            <a:off x="10921093" y="6298066"/>
            <a:ext cx="1104900" cy="368754"/>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0B0392D-6F3E-7768-22BD-4657528660C0}"/>
              </a:ext>
            </a:extLst>
          </p:cNvPr>
          <p:cNvPicPr>
            <a:picLocks noChangeAspect="1"/>
          </p:cNvPicPr>
          <p:nvPr/>
        </p:nvPicPr>
        <p:blipFill>
          <a:blip r:embed="rId3"/>
          <a:stretch>
            <a:fillRect/>
          </a:stretch>
        </p:blipFill>
        <p:spPr>
          <a:xfrm>
            <a:off x="653143" y="1613981"/>
            <a:ext cx="11114315" cy="4860123"/>
          </a:xfrm>
          <a:prstGeom prst="rect">
            <a:avLst/>
          </a:prstGeom>
        </p:spPr>
      </p:pic>
    </p:spTree>
    <p:extLst>
      <p:ext uri="{BB962C8B-B14F-4D97-AF65-F5344CB8AC3E}">
        <p14:creationId xmlns:p14="http://schemas.microsoft.com/office/powerpoint/2010/main" val="3585873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E42EE1-DED4-55D4-630D-BBFCEFED78A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FE23EC38-5AA5-79B2-9879-3C7980848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A4B703-01B8-B286-3976-B4EFBFFD2C0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a:t>
            </a:r>
            <a:r>
              <a:rPr lang="en-US" sz="3000" dirty="0">
                <a:solidFill>
                  <a:schemeClr val="bg1"/>
                </a:solidFill>
              </a:rPr>
              <a:t>– Model Development</a:t>
            </a:r>
            <a:endParaRPr lang="en-US" sz="3000" kern="1200" dirty="0">
              <a:solidFill>
                <a:schemeClr val="bg1"/>
              </a:solidFill>
              <a:latin typeface="+mj-lt"/>
              <a:ea typeface="+mj-ea"/>
              <a:cs typeface="+mj-cs"/>
            </a:endParaRPr>
          </a:p>
        </p:txBody>
      </p:sp>
      <p:pic>
        <p:nvPicPr>
          <p:cNvPr id="4" name="Picture 3" descr="A blue and orange neon sign&#10;&#10;AI-generated content may be incorrect.">
            <a:extLst>
              <a:ext uri="{FF2B5EF4-FFF2-40B4-BE49-F238E27FC236}">
                <a16:creationId xmlns:a16="http://schemas.microsoft.com/office/drawing/2014/main" id="{6522B245-6F1F-DF32-648D-D6209E1979E6}"/>
              </a:ext>
            </a:extLst>
          </p:cNvPr>
          <p:cNvPicPr>
            <a:picLocks noChangeAspect="1"/>
          </p:cNvPicPr>
          <p:nvPr/>
        </p:nvPicPr>
        <p:blipFill>
          <a:blip r:embed="rId2"/>
          <a:stretch>
            <a:fillRect/>
          </a:stretch>
        </p:blipFill>
        <p:spPr>
          <a:xfrm>
            <a:off x="10921093" y="6298066"/>
            <a:ext cx="1104900" cy="368754"/>
          </a:xfrm>
          <a:prstGeom prst="rect">
            <a:avLst/>
          </a:prstGeom>
        </p:spPr>
      </p:pic>
      <p:pic>
        <p:nvPicPr>
          <p:cNvPr id="3" name="Picture 2" descr="A screenshot of a computer screen&#10;&#10;AI-generated content may be incorrect.">
            <a:extLst>
              <a:ext uri="{FF2B5EF4-FFF2-40B4-BE49-F238E27FC236}">
                <a16:creationId xmlns:a16="http://schemas.microsoft.com/office/drawing/2014/main" id="{142E36EA-4470-86FF-4663-4A33569644B1}"/>
              </a:ext>
            </a:extLst>
          </p:cNvPr>
          <p:cNvPicPr>
            <a:picLocks noChangeAspect="1"/>
          </p:cNvPicPr>
          <p:nvPr/>
        </p:nvPicPr>
        <p:blipFill>
          <a:blip r:embed="rId3"/>
          <a:stretch>
            <a:fillRect/>
          </a:stretch>
        </p:blipFill>
        <p:spPr>
          <a:xfrm>
            <a:off x="1164772" y="1502929"/>
            <a:ext cx="9993086" cy="5147541"/>
          </a:xfrm>
          <a:prstGeom prst="rect">
            <a:avLst/>
          </a:prstGeom>
        </p:spPr>
      </p:pic>
    </p:spTree>
    <p:extLst>
      <p:ext uri="{BB962C8B-B14F-4D97-AF65-F5344CB8AC3E}">
        <p14:creationId xmlns:p14="http://schemas.microsoft.com/office/powerpoint/2010/main" val="1464279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29295D-4572-1456-2D90-A1689E024D95}"/>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E05B5-84E7-A1AE-427D-934BCD826EF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Dashboard – Visualizations</a:t>
            </a:r>
          </a:p>
        </p:txBody>
      </p:sp>
      <p:pic>
        <p:nvPicPr>
          <p:cNvPr id="5" name="Picture 4" descr="A screenshot of a computer&#10;&#10;AI-generated content may be incorrect.">
            <a:extLst>
              <a:ext uri="{FF2B5EF4-FFF2-40B4-BE49-F238E27FC236}">
                <a16:creationId xmlns:a16="http://schemas.microsoft.com/office/drawing/2014/main" id="{C6E0BB71-4352-6226-CF33-1C7F6D5F3B02}"/>
              </a:ext>
            </a:extLst>
          </p:cNvPr>
          <p:cNvPicPr>
            <a:picLocks noChangeAspect="1"/>
          </p:cNvPicPr>
          <p:nvPr/>
        </p:nvPicPr>
        <p:blipFill>
          <a:blip r:embed="rId2"/>
          <a:stretch>
            <a:fillRect/>
          </a:stretch>
        </p:blipFill>
        <p:spPr>
          <a:xfrm>
            <a:off x="1589128" y="1675227"/>
            <a:ext cx="9013743" cy="4394199"/>
          </a:xfrm>
          <a:prstGeom prst="rect">
            <a:avLst/>
          </a:prstGeom>
        </p:spPr>
      </p:pic>
      <p:pic>
        <p:nvPicPr>
          <p:cNvPr id="4" name="Picture 3" descr="A blue and orange neon sign&#10;&#10;AI-generated content may be incorrect.">
            <a:extLst>
              <a:ext uri="{FF2B5EF4-FFF2-40B4-BE49-F238E27FC236}">
                <a16:creationId xmlns:a16="http://schemas.microsoft.com/office/drawing/2014/main" id="{4E29A1E3-790B-A2CF-2DF5-1E7AA774AE66}"/>
              </a:ext>
            </a:extLst>
          </p:cNvPr>
          <p:cNvPicPr>
            <a:picLocks noChangeAspect="1"/>
          </p:cNvPicPr>
          <p:nvPr/>
        </p:nvPicPr>
        <p:blipFill>
          <a:blip r:embed="rId3"/>
          <a:stretch>
            <a:fillRect/>
          </a:stretch>
        </p:blipFill>
        <p:spPr>
          <a:xfrm>
            <a:off x="10921093" y="6298066"/>
            <a:ext cx="1104900" cy="368754"/>
          </a:xfrm>
          <a:prstGeom prst="rect">
            <a:avLst/>
          </a:prstGeom>
        </p:spPr>
      </p:pic>
    </p:spTree>
    <p:extLst>
      <p:ext uri="{BB962C8B-B14F-4D97-AF65-F5344CB8AC3E}">
        <p14:creationId xmlns:p14="http://schemas.microsoft.com/office/powerpoint/2010/main" val="1874134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F8962B-E49C-A726-7DF8-02635D5888EF}"/>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4DF2DB-53EE-5651-7191-4AEB1267E9E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Dashboard – Visualizations</a:t>
            </a:r>
          </a:p>
        </p:txBody>
      </p:sp>
      <p:pic>
        <p:nvPicPr>
          <p:cNvPr id="3" name="Picture 2" descr="A screenshot of a computer&#10;&#10;AI-generated content may be incorrect.">
            <a:extLst>
              <a:ext uri="{FF2B5EF4-FFF2-40B4-BE49-F238E27FC236}">
                <a16:creationId xmlns:a16="http://schemas.microsoft.com/office/drawing/2014/main" id="{C22DFCE1-3D3A-E575-1AD7-F8E82DB2CB54}"/>
              </a:ext>
            </a:extLst>
          </p:cNvPr>
          <p:cNvPicPr>
            <a:picLocks noChangeAspect="1"/>
          </p:cNvPicPr>
          <p:nvPr/>
        </p:nvPicPr>
        <p:blipFill>
          <a:blip r:embed="rId2"/>
          <a:stretch>
            <a:fillRect/>
          </a:stretch>
        </p:blipFill>
        <p:spPr>
          <a:xfrm>
            <a:off x="1565898" y="1675227"/>
            <a:ext cx="9060204" cy="4394199"/>
          </a:xfrm>
          <a:prstGeom prst="rect">
            <a:avLst/>
          </a:prstGeom>
        </p:spPr>
      </p:pic>
      <p:pic>
        <p:nvPicPr>
          <p:cNvPr id="4" name="Picture 3" descr="A blue and orange neon sign&#10;&#10;AI-generated content may be incorrect.">
            <a:extLst>
              <a:ext uri="{FF2B5EF4-FFF2-40B4-BE49-F238E27FC236}">
                <a16:creationId xmlns:a16="http://schemas.microsoft.com/office/drawing/2014/main" id="{2377AC72-A48F-65D3-901A-B3C5DB2BDE7D}"/>
              </a:ext>
            </a:extLst>
          </p:cNvPr>
          <p:cNvPicPr>
            <a:picLocks noChangeAspect="1"/>
          </p:cNvPicPr>
          <p:nvPr/>
        </p:nvPicPr>
        <p:blipFill>
          <a:blip r:embed="rId3"/>
          <a:stretch>
            <a:fillRect/>
          </a:stretch>
        </p:blipFill>
        <p:spPr>
          <a:xfrm>
            <a:off x="10921093" y="6298066"/>
            <a:ext cx="1104900" cy="368754"/>
          </a:xfrm>
          <a:prstGeom prst="rect">
            <a:avLst/>
          </a:prstGeom>
        </p:spPr>
      </p:pic>
    </p:spTree>
    <p:extLst>
      <p:ext uri="{BB962C8B-B14F-4D97-AF65-F5344CB8AC3E}">
        <p14:creationId xmlns:p14="http://schemas.microsoft.com/office/powerpoint/2010/main" val="1650793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B69ED0-9C0B-6F1A-3AB3-4866A0E39EB5}"/>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86BB43-ED1B-BCBD-1749-08CDFD07D10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Dashboard – Visualizations</a:t>
            </a:r>
          </a:p>
        </p:txBody>
      </p:sp>
      <p:pic>
        <p:nvPicPr>
          <p:cNvPr id="5" name="Picture 4" descr="A screenshot of a computer&#10;&#10;AI-generated content may be incorrect.">
            <a:extLst>
              <a:ext uri="{FF2B5EF4-FFF2-40B4-BE49-F238E27FC236}">
                <a16:creationId xmlns:a16="http://schemas.microsoft.com/office/drawing/2014/main" id="{F88E9883-662B-808E-13A4-73E774D819B7}"/>
              </a:ext>
            </a:extLst>
          </p:cNvPr>
          <p:cNvPicPr>
            <a:picLocks noChangeAspect="1"/>
          </p:cNvPicPr>
          <p:nvPr/>
        </p:nvPicPr>
        <p:blipFill>
          <a:blip r:embed="rId2"/>
          <a:stretch>
            <a:fillRect/>
          </a:stretch>
        </p:blipFill>
        <p:spPr>
          <a:xfrm>
            <a:off x="1589128" y="1675227"/>
            <a:ext cx="9013743" cy="4394199"/>
          </a:xfrm>
          <a:prstGeom prst="rect">
            <a:avLst/>
          </a:prstGeom>
        </p:spPr>
      </p:pic>
      <p:pic>
        <p:nvPicPr>
          <p:cNvPr id="4" name="Picture 3" descr="A blue and orange neon sign&#10;&#10;AI-generated content may be incorrect.">
            <a:extLst>
              <a:ext uri="{FF2B5EF4-FFF2-40B4-BE49-F238E27FC236}">
                <a16:creationId xmlns:a16="http://schemas.microsoft.com/office/drawing/2014/main" id="{316FA945-CCF6-0410-1971-A5FCB8444C43}"/>
              </a:ext>
            </a:extLst>
          </p:cNvPr>
          <p:cNvPicPr>
            <a:picLocks noChangeAspect="1"/>
          </p:cNvPicPr>
          <p:nvPr/>
        </p:nvPicPr>
        <p:blipFill>
          <a:blip r:embed="rId3"/>
          <a:stretch>
            <a:fillRect/>
          </a:stretch>
        </p:blipFill>
        <p:spPr>
          <a:xfrm>
            <a:off x="10921093" y="6298066"/>
            <a:ext cx="1104900" cy="368754"/>
          </a:xfrm>
          <a:prstGeom prst="rect">
            <a:avLst/>
          </a:prstGeom>
        </p:spPr>
      </p:pic>
    </p:spTree>
    <p:extLst>
      <p:ext uri="{BB962C8B-B14F-4D97-AF65-F5344CB8AC3E}">
        <p14:creationId xmlns:p14="http://schemas.microsoft.com/office/powerpoint/2010/main" val="181184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BF0063-32A3-84CE-65A6-D3EEE603CAED}"/>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BFF68813-466A-C296-5376-3156E4993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4B7664-2822-6174-6ABB-D608C4A4F83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000" kern="1200" dirty="0">
                <a:solidFill>
                  <a:schemeClr val="bg1"/>
                </a:solidFill>
                <a:latin typeface="+mj-lt"/>
                <a:ea typeface="+mj-ea"/>
                <a:cs typeface="+mj-cs"/>
              </a:rPr>
              <a:t>Predictive Maintenance Dashboard – Visualizations</a:t>
            </a:r>
          </a:p>
        </p:txBody>
      </p:sp>
      <p:pic>
        <p:nvPicPr>
          <p:cNvPr id="4" name="Picture 3" descr="A blue and orange neon sign&#10;&#10;AI-generated content may be incorrect.">
            <a:extLst>
              <a:ext uri="{FF2B5EF4-FFF2-40B4-BE49-F238E27FC236}">
                <a16:creationId xmlns:a16="http://schemas.microsoft.com/office/drawing/2014/main" id="{8D647C6A-E57C-D4E8-B770-47E3278D943C}"/>
              </a:ext>
            </a:extLst>
          </p:cNvPr>
          <p:cNvPicPr>
            <a:picLocks noChangeAspect="1"/>
          </p:cNvPicPr>
          <p:nvPr/>
        </p:nvPicPr>
        <p:blipFill>
          <a:blip r:embed="rId2"/>
          <a:stretch>
            <a:fillRect/>
          </a:stretch>
        </p:blipFill>
        <p:spPr>
          <a:xfrm>
            <a:off x="10921093" y="6298066"/>
            <a:ext cx="1104900" cy="36875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D790D81-432C-A232-6CD1-BD6E2494E0CD}"/>
              </a:ext>
            </a:extLst>
          </p:cNvPr>
          <p:cNvPicPr>
            <a:picLocks noChangeAspect="1"/>
          </p:cNvPicPr>
          <p:nvPr/>
        </p:nvPicPr>
        <p:blipFill>
          <a:blip r:embed="rId3"/>
          <a:stretch>
            <a:fillRect/>
          </a:stretch>
        </p:blipFill>
        <p:spPr>
          <a:xfrm>
            <a:off x="665409" y="1528029"/>
            <a:ext cx="5183748" cy="2471125"/>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3A71C9ED-1FDF-51EE-4A1B-E703E11034C5}"/>
              </a:ext>
            </a:extLst>
          </p:cNvPr>
          <p:cNvPicPr>
            <a:picLocks noChangeAspect="1"/>
          </p:cNvPicPr>
          <p:nvPr/>
        </p:nvPicPr>
        <p:blipFill>
          <a:blip r:embed="rId4"/>
          <a:stretch>
            <a:fillRect/>
          </a:stretch>
        </p:blipFill>
        <p:spPr>
          <a:xfrm>
            <a:off x="6375043" y="1525138"/>
            <a:ext cx="5076424" cy="247690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2A312C0-94AC-50E2-E2A5-2140CFBCAC49}"/>
              </a:ext>
            </a:extLst>
          </p:cNvPr>
          <p:cNvPicPr>
            <a:picLocks noChangeAspect="1"/>
          </p:cNvPicPr>
          <p:nvPr/>
        </p:nvPicPr>
        <p:blipFill>
          <a:blip r:embed="rId5"/>
          <a:stretch>
            <a:fillRect/>
          </a:stretch>
        </p:blipFill>
        <p:spPr>
          <a:xfrm>
            <a:off x="643943" y="4173487"/>
            <a:ext cx="5183747" cy="248201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0C34AF22-7921-09EC-6E99-6AC2F7C074D6}"/>
              </a:ext>
            </a:extLst>
          </p:cNvPr>
          <p:cNvPicPr>
            <a:picLocks noChangeAspect="1"/>
          </p:cNvPicPr>
          <p:nvPr/>
        </p:nvPicPr>
        <p:blipFill>
          <a:blip r:embed="rId6"/>
          <a:stretch>
            <a:fillRect/>
          </a:stretch>
        </p:blipFill>
        <p:spPr>
          <a:xfrm>
            <a:off x="6375042" y="4176915"/>
            <a:ext cx="5076423" cy="2475157"/>
          </a:xfrm>
          <a:prstGeom prst="rect">
            <a:avLst/>
          </a:prstGeom>
        </p:spPr>
      </p:pic>
    </p:spTree>
    <p:extLst>
      <p:ext uri="{BB962C8B-B14F-4D97-AF65-F5344CB8AC3E}">
        <p14:creationId xmlns:p14="http://schemas.microsoft.com/office/powerpoint/2010/main" val="171304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2D92D83D-325B-D352-73B6-960435AB6865}"/>
              </a:ext>
            </a:extLst>
          </p:cNvPr>
          <p:cNvSpPr>
            <a:spLocks noGrp="1"/>
          </p:cNvSpPr>
          <p:nvPr>
            <p:ph type="ctrTitle"/>
          </p:nvPr>
        </p:nvSpPr>
        <p:spPr>
          <a:xfrm>
            <a:off x="1301261" y="590062"/>
            <a:ext cx="5409655" cy="2838938"/>
          </a:xfrm>
        </p:spPr>
        <p:txBody>
          <a:bodyPr>
            <a:normAutofit/>
          </a:bodyPr>
          <a:lstStyle/>
          <a:p>
            <a:pPr algn="l"/>
            <a:r>
              <a:rPr lang="en-US" sz="5600">
                <a:solidFill>
                  <a:srgbClr val="FFFFFF"/>
                </a:solidFill>
              </a:rPr>
              <a:t>Thank you</a:t>
            </a:r>
          </a:p>
        </p:txBody>
      </p:sp>
      <p:sp>
        <p:nvSpPr>
          <p:cNvPr id="4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5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5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55" name="Straight Connector 5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Picture 4" descr="A blue and orange neon sign&#10;&#10;AI-generated content may be incorrect.">
            <a:extLst>
              <a:ext uri="{FF2B5EF4-FFF2-40B4-BE49-F238E27FC236}">
                <a16:creationId xmlns:a16="http://schemas.microsoft.com/office/drawing/2014/main" id="{5ABEC608-B3D2-2FE9-78B5-99F22E3D37BF}"/>
              </a:ext>
            </a:extLst>
          </p:cNvPr>
          <p:cNvPicPr>
            <a:picLocks noChangeAspect="1"/>
          </p:cNvPicPr>
          <p:nvPr/>
        </p:nvPicPr>
        <p:blipFill>
          <a:blip r:embed="rId2"/>
          <a:stretch>
            <a:fillRect/>
          </a:stretch>
        </p:blipFill>
        <p:spPr>
          <a:xfrm>
            <a:off x="10648950" y="136752"/>
            <a:ext cx="1409700" cy="466725"/>
          </a:xfrm>
          <a:prstGeom prst="rect">
            <a:avLst/>
          </a:prstGeom>
        </p:spPr>
      </p:pic>
    </p:spTree>
    <p:extLst>
      <p:ext uri="{BB962C8B-B14F-4D97-AF65-F5344CB8AC3E}">
        <p14:creationId xmlns:p14="http://schemas.microsoft.com/office/powerpoint/2010/main" val="39854576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0799A04519652418BF06EF2C6338CE1" ma:contentTypeVersion="3" ma:contentTypeDescription="Create a new document." ma:contentTypeScope="" ma:versionID="b7d5475fe805bc4e861fb8acc960f143">
  <xsd:schema xmlns:xsd="http://www.w3.org/2001/XMLSchema" xmlns:xs="http://www.w3.org/2001/XMLSchema" xmlns:p="http://schemas.microsoft.com/office/2006/metadata/properties" xmlns:ns2="939306ca-e37c-454a-ad53-15c1abed37d9" targetNamespace="http://schemas.microsoft.com/office/2006/metadata/properties" ma:root="true" ma:fieldsID="fdea0599c5989c5273e026a793455ce2" ns2:_="">
    <xsd:import namespace="939306ca-e37c-454a-ad53-15c1abed37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9306ca-e37c-454a-ad53-15c1abed37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DDFA6A-9561-4A33-8D4D-6570E8430643}">
  <ds:schemaRefs>
    <ds:schemaRef ds:uri="http://schemas.microsoft.com/sharepoint/v3/contenttype/forms"/>
  </ds:schemaRefs>
</ds:datastoreItem>
</file>

<file path=customXml/itemProps2.xml><?xml version="1.0" encoding="utf-8"?>
<ds:datastoreItem xmlns:ds="http://schemas.openxmlformats.org/officeDocument/2006/customXml" ds:itemID="{DE0B0425-5222-4C34-99CC-DA87F283EE2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B36471-893D-498B-9CCB-68B1EDA77B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9306ca-e37c-454a-ad53-15c1abed37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TotalTime>
  <Words>817</Words>
  <Application>Microsoft Office PowerPoint</Application>
  <PresentationFormat>Widescreen</PresentationFormat>
  <Paragraphs>96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Calibri</vt:lpstr>
      <vt:lpstr>Segoe UI</vt:lpstr>
      <vt:lpstr>Wingdings</vt:lpstr>
      <vt:lpstr>Office Theme</vt:lpstr>
      <vt:lpstr>Predictive Maintenance &amp; Analytics Brochure</vt:lpstr>
      <vt:lpstr>Executive Summary</vt:lpstr>
      <vt:lpstr>Data &amp; SCADA Integration</vt:lpstr>
      <vt:lpstr>Proposed Solution Flow</vt:lpstr>
      <vt:lpstr>Dashboard Experience (Predictive &amp; Conversational Intelligence Layer)</vt:lpstr>
      <vt:lpstr>Proposed engagement roadmap for MVP (Indicative – Based on Data Availability)</vt:lpstr>
      <vt:lpstr>Thank you</vt:lpstr>
      <vt:lpstr>Annexure</vt:lpstr>
      <vt:lpstr>Predictive Maintenance – Model Development</vt:lpstr>
      <vt:lpstr>Predictive Maintenance – Model Development</vt:lpstr>
      <vt:lpstr>Predictive Maintenance – Model Development</vt:lpstr>
      <vt:lpstr>Predictive Maintenance – Model Development</vt:lpstr>
      <vt:lpstr>Predictive Maintenance Dashboard – Visualizations</vt:lpstr>
      <vt:lpstr>Predictive Maintenance Dashboard – Visualizations</vt:lpstr>
      <vt:lpstr>Predictive Maintenance Dashboard – Visualizations</vt:lpstr>
      <vt:lpstr>Predictive Maintenance Dashboard – Visualizations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Deepak  Gupta</cp:lastModifiedBy>
  <cp:revision>1574</cp:revision>
  <dcterms:created xsi:type="dcterms:W3CDTF">2025-09-16T06:08:11Z</dcterms:created>
  <dcterms:modified xsi:type="dcterms:W3CDTF">2025-12-24T05:59:45Z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0x01010020799A04519652418BF06EF2C6338CE1</vt:lpwstr>
  </property>
</Properties>
</file>